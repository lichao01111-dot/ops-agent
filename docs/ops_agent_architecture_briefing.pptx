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645920"/>
          </a:xfrm>
          <a:prstGeom prst="rect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PingFang SC"/>
              </a:rPr>
              <a:t>OpsAgent 架构详解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0">
                <a:solidFill>
                  <a:srgbClr val="CCDDEE"/>
                </a:solidFill>
                <a:latin typeface="PingFang SC"/>
              </a:rPr>
              <a:t>Agent Kernel + Vertical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99AACC"/>
                </a:solidFill>
                <a:latin typeface="PingFang SC"/>
              </a:rPr>
              <a:t>从设计原则到实现细节 · 全栈技术汇报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8899AA"/>
                </a:solidFill>
                <a:latin typeface="Helvetica Neue"/>
              </a:rPr>
              <a:t>2026 · 技术评审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02 /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371600" cy="59436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背景与问题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为什么要重构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645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p.3–5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1371600" cy="59436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9456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整体分层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146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Kernel / Vertical /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331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p.6–8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1371600" cy="59436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8036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Agent Kernel 深度讲解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004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每个组件的职责与接口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017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p.9–17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1371600" cy="59436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56616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OpsAgent 垂直实现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862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作为第一个 Vertical 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703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p.18–22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1371600" cy="59436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51959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关键执行流程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5720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审批 / 诊断 / 复合请求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p.23–26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1371600" cy="59436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937759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插件化与扩展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2578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10 个插件点 + 新 Vertical 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p.27–28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1371600" cy="59436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Part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623559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PingFang SC"/>
              </a:rPr>
              <a:t>演进方向与测试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94360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降级 / 测试 / Supervisor / 路线图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760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Helvetica Neue"/>
              </a:rPr>
              <a:t>p.29–32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1  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旧架构的根本问题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所有逻辑塞进一个 Agent，最终会崩塌在四个方向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235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37160" cy="22860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39"/>
            <a:ext cx="6400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PingFang SC"/>
              </a:rP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91639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D04545"/>
                </a:solidFill>
                <a:latin typeface="PingFang SC"/>
              </a:rPr>
              <a:t>路由退化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PingFang SC"/>
              </a:rPr>
              <a:t>多领域关键词互相冲突。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5212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"重启" 既是运维，"重启会话" 又是客服 —
单 Agent 关键词路由的准确率断崖式下跌。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6235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137160" cy="2286000"/>
          </a:xfrm>
          <a:prstGeom prst="rect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39"/>
            <a:ext cx="6400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PingFang SC"/>
              </a:rPr>
              <a:t>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691639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6922A"/>
                </a:solidFill>
                <a:latin typeface="PingFang SC"/>
              </a:rPr>
              <a:t>安全边界失守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19456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PingFang SC"/>
              </a:rPr>
              <a:t>不同业务审批流差异巨大。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5212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"重启 Pod""发起转账""修改薪资" 审批人、
触发阈值、风险等级完全不同，不能共用一套判断。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6235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137160" cy="2286000"/>
          </a:xfrm>
          <a:prstGeom prst="rect">
            <a:avLst/>
          </a:prstGeom>
          <a:solidFill>
            <a:srgbClr val="7A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6400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PingFang SC"/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69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7A4FB5"/>
                </a:solidFill>
                <a:latin typeface="PingFang SC"/>
              </a:rPr>
              <a:t>工具选错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7200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PingFang SC"/>
              </a:rPr>
              <a:t>LLM 面对 &gt; 20 个工具就开始犯糊涂。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5212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单 Agent 工具数一多，LLM 的工具检索
准确率明显退化 — 这是模型能力的天花板。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31920"/>
            <a:ext cx="56235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137160" cy="2286000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69080"/>
            <a:ext cx="6400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PingFang SC"/>
              </a:rPr>
              <a:t>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069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E5BBA"/>
                </a:solidFill>
                <a:latin typeface="PingFang SC"/>
              </a:rPr>
              <a:t>记忆串味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57200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PingFang SC"/>
              </a:rPr>
              <a:t>FACTS / HYPOTHESES 只适合诊断-决策-执行。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29200"/>
            <a:ext cx="5212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到了客服、数据场景这几层根本不贴切，
强行复用会污染语义。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355080"/>
            <a:ext cx="11247120" cy="3657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结论：窄而深的垂直 Agent 是护城河；一个 Agent 吃天下是陷阱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1  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核心判断：70% 骨架无关领域，30% 才是业务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这是整个架构重构的出发点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572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2E5BBA"/>
                </a:solidFill>
                <a:latin typeface="PingFang SC"/>
              </a:rPr>
              <a:t>70%  可复用骨架（领域无关）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Planner / PlanStep /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LangGraph StateGraph 编排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ToolRegistry + MCP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DiagnosisExecutor 多假设模式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0208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MemorySchema + RBAC 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ApprovalPolicy + AuditLogger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28032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双入口 chat / chat_stream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66944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PingFang SC"/>
              </a:rPr>
              <a:t>✓  三级降级（L1/L2/L3）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486400" cy="4572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69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0020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6922A"/>
                </a:solidFill>
                <a:latin typeface="PingFang SC"/>
              </a:rPr>
              <a:t>30%  业务逻辑（Ops 特有）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tools/*  K8s / Jenkins / Logs 12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33472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config/topology.yaml  服务拓扑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72384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router.py  运维关键词映射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11296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extract_namespace / pod /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950208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_plan_read_only_tool  只读工具编排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_build_pipeline_plan  发布流程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28032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_format_single_read_only_result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266944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PingFang SC"/>
              </a:rPr>
              <a:t>●  _update_memory_from_tool_output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217920"/>
            <a:ext cx="11247120" cy="5029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把 70% 抽成 Agent Kernel  →  新垂直 Agent 只写 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1  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六条设计原则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Kernel 和 Vertical 分界线的裁判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05 / 32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Kernel 零领域知识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任何关键词、工具名、业务 Schema、格式化函数都不许进 Kernel。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8600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042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插件点显式声明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7004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Kernel 通过抽象基类 + 依赖注入暴露扩展点，不通过猜测或反射。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契约先于实现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9300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Pydantic / TypedDict 定义 Plan / PlanStep / ToolSpec / MemoryItem，跨 Vertical 共享。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50207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安全边界可配置但不可绕过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RBAC、Approval、side_effect 由 Kernel 强制执行，Vertical 只能填配置不能削弱。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每个 Vertical 独立实例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3892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各自的工具、路由、记忆语义，不共享运行时状态。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77840"/>
            <a:ext cx="685800" cy="68580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961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Supervisor 是 "Agent 的 Planner"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96188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ingFang SC"/>
              </a:rPr>
              <a:t>上层调度不关心下层怎么干，只发 sub-plan 给具名的子 Agent。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2  整体分层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三层总图：Supervisor / Vertical /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从下向上是依赖关系，从上向下是调度关系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371600"/>
            <a:ext cx="758952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PingFang SC"/>
              </a:rPr>
              <a:t>Supervisor（演进方向）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83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PingFang SC"/>
              </a:rPr>
              <a:t>MetaPlanner · PlanStep.execution_target="agent:xxx" · 跨 Agent 的联合审批 / 审计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743200" y="2286000"/>
            <a:ext cx="333756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029200" y="2286000"/>
            <a:ext cx="105156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286000"/>
            <a:ext cx="123444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286000"/>
            <a:ext cx="352044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743200"/>
            <a:ext cx="2468880" cy="118872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OpsAgent
运维
（已落地）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4023360"/>
            <a:ext cx="0" cy="5486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03320" y="2743200"/>
            <a:ext cx="2468880" cy="11887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CsmAgent
客服
（未来）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4023360"/>
            <a:ext cx="0" cy="5486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2743200"/>
            <a:ext cx="2468880" cy="11887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DataAgent
数据
（未来）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26679" y="4023360"/>
            <a:ext cx="0" cy="5486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59" y="2743200"/>
            <a:ext cx="2468880" cy="11887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DocAgent
文档
（未来）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599" y="4023360"/>
            <a:ext cx="0" cy="5486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4572000"/>
            <a:ext cx="11247120" cy="17373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PingFang SC"/>
              </a:rPr>
              <a:t>🧱  Agent Kernel （领域无关骨架）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Planner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39" y="5120640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Router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5120640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Executor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59" y="5120640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ToolRegistry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19" y="5120640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MCPClient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23559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MemorySchema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39" y="5623559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MemoryBackend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5623559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Approval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59" y="5623559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19" y="5623559"/>
            <a:ext cx="2103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3A5F"/>
                </a:solidFill>
                <a:latin typeface="PingFang SC"/>
              </a:rPr>
              <a:t>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2  整体分层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Kernel vs Vertical：什么归谁？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这条边界是架构评审的准绳 —— 违反它就是反模式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623560" cy="48463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E5BBA"/>
                </a:solidFill>
                <a:latin typeface="PingFang SC"/>
              </a:rPr>
              <a:t>🧱  Agent Kernel 必须是什么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3911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编排 / 执行 / 审计 / 脱敏 / 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通用能力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919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抽象基类 ExecutorBase / RouterBase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插件契约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1927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Pydantic Schema：Plan / PlanStep / ToolSpec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数据契约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5935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RouteKey / MemoryLayerKey 等可注册字符串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开放契约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D04545"/>
                </a:solidFill>
                <a:latin typeface="PingFang SC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9943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不许出现 "pod" "jenkins" "重启" 等业务词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2920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D04545"/>
                </a:solidFill>
                <a:latin typeface="PingFang SC"/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1091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不许硬编码路由、工具名、关键词、拓扑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D04545"/>
                </a:solidFill>
                <a:latin typeface="PingFang SC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2239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不许导入 agent_ops 任何模块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71600"/>
            <a:ext cx="5486400" cy="48463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69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50876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6922A"/>
                </a:solidFill>
                <a:latin typeface="PingFang SC"/>
              </a:rPr>
              <a:t>🎯  Vertical Agent 才能是什么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5740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03911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业务工具（K8s、Jenkins、CRM、SQL）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377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调用链 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69748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67919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业务关键词路由（"重启"→ mutation）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01752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Router 子类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375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31927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风险审批规则（生产 + mutation = 必审批）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ApprovalPolicy 子类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97764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5935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记忆层定义（observations / hypotheses ...）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9768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MemorySchema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61772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59943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业务 Prompt 和诊断打分启发式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93776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_heuristic_score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25780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23951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业务格式化输出（formatters.py）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66928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PingFang SC"/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650992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Planner 子类覆写复合拆分规则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98932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OpsPlanner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2  整体分层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代码组织：agent_kernel/ 和 agent_ops/ 两棵树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每个目录都对应架构图上的一个盒子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8463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2E5BBA"/>
                </a:solidFill>
                <a:latin typeface="Menlo"/>
              </a:rPr>
              <a:t>📁  agent_kernel/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30352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base_agent.py        # BaseAgent + LangGraph 图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planner.py           # Planner + advance / replan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router.py            # RouterBase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executor.py          # ExecutorBase / FunctionExecutor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schemas.py           # Plan / PlanStep / ToolSpec ...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approval.py          # ApprovalPolicy + ApprovalDecision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audit.py             # AuditLogger + sanitizer / sink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session.py           # SessionStore ABC + InMemory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memory/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schema.py          # MemorySchema (RBAC)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backend.py         # MemoryBackend ABC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tools/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registry.py        # ToolRegistry + ToolSpec 索引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mcp_gateway.py     # MCP Client + register_server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patterns/            # 可选基类库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multi_hypothesis.py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1F3A5F"/>
                </a:solidFill>
                <a:latin typeface="Menlo"/>
              </a:rPr>
              <a:t>  approval_gate.py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86400" cy="48463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69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922A"/>
                </a:solidFill>
                <a:latin typeface="Menlo"/>
              </a:rPr>
              <a:t>📁  agent_ops/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21208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agent.py             # OpsAgent 装配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router.py            # IntentRouter (关键词)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planner.py           # OpsPlanner (中文拆分)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risk_policy.py       # OpsApprovalPolicy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memory_schema.py     # OPS_MEMORY_SCHEMA 6 层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extractors.py        # namespace / pod / service 抽取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formatters.py        # 结果格式化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memory_hooks.py      # tool output → memory 规则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topology.py          # ServiceTopology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tool_setup.py        # 12 个 Ops 工具注册入口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schemas.py           # IntentType / AgentRoute / ...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executors/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  knowledge.py       # KnowledgeExecutor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  read_only.py       # ReadOnlyOpsExecutor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  diagnosis.py       # DiagnosisExecutor (多假设)</a:t>
            </a:r>
          </a:p>
          <a:p>
            <a:pPr algn="l">
              <a:spcAft>
                <a:spcPts val="2500"/>
              </a:spcAft>
            </a:pPr>
            <a:r>
              <a:rPr sz="1000" b="0">
                <a:solidFill>
                  <a:srgbClr val="333333"/>
                </a:solidFill>
                <a:latin typeface="Menlo"/>
              </a:rPr>
              <a:t>  mutation.py        # MutationExecutor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Kernel 的 11 个核心组件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每个组件都有明确职责边界和可测试的接口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09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377440" cy="411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组件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5029200" cy="411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职责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17320"/>
            <a:ext cx="3840480" cy="411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关键接口 / 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BaseAgent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28800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装配 Planner + Executors + Session，暴露 chat / chat_stream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base_agent.py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12848"/>
            <a:ext cx="237744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Planner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212848"/>
            <a:ext cx="5029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生成 Plan、advance / replan、max_iterations 预算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12848"/>
            <a:ext cx="384048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planner.py · initial_plan / advance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96896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RouterBase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596896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把自然语言请求 → RouteDecision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596896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router.py · async route()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80944"/>
            <a:ext cx="237744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ExecutorBase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980944"/>
            <a:ext cx="5029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单个路由的执行器抽象基类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980944"/>
            <a:ext cx="384048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executor.py · async execute(state)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64991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ToolRegistry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3364991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本地 + MCP 工具的统一 ToolSpec + retrieve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364991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tools/registry.py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49039"/>
            <a:ext cx="237744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MCPClient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749039"/>
            <a:ext cx="5029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MCP 服务器网关，零代码接入远程工具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749039"/>
            <a:ext cx="384048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tools/mcp_gateway.py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33087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MemorySchema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4133087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记忆层定义 + RBAC 白名单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133087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memory/schema.py · assert_can_write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17136"/>
            <a:ext cx="237744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MemoryBackend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4517136"/>
            <a:ext cx="5029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共享记忆存储接口（InMemory / Redis / DB）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4517136"/>
            <a:ext cx="384048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memory/backend.py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01183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ApprovalPolicy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901183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审批策略接口 + ApprovalReceipt 校验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901183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approval.py · evaluate / resolve_receipt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85231"/>
            <a:ext cx="237744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AuditLogger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5285231"/>
            <a:ext cx="5029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审计日志 + sanitizer / sink 扩展钩子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5285231"/>
            <a:ext cx="3840480" cy="38404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audit.py · log / add_sanitizer / add_sink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79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SessionStore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5669279"/>
            <a:ext cx="5029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会话 + 消息历史 + 记忆条目存储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5669279"/>
            <a:ext cx="3840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session.py (ABC + InMemory)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BaseAgent 的核心图（LangGraph StateGraph）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一图读懂：planner 节点是中心，executors 是动态扇出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103120" cy="45720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▶ entry_point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920240"/>
            <a:ext cx="0" cy="3200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2240280"/>
            <a:ext cx="301752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planner  ─  _planner_node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45920" y="2971800"/>
            <a:ext cx="4434840" cy="594360"/>
          </a:xfrm>
          <a:prstGeom prst="line">
            <a:avLst/>
          </a:prstGeom>
          <a:ln w="1524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566160"/>
            <a:ext cx="2011680" cy="64008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knowledge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4251960"/>
            <a:ext cx="4434840" cy="594360"/>
          </a:xfrm>
          <a:prstGeom prst="line">
            <a:avLst/>
          </a:prstGeom>
          <a:ln w="12700">
            <a:solidFill>
              <a:srgbClr val="BBBB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617720" y="2971800"/>
            <a:ext cx="1463040" cy="594360"/>
          </a:xfrm>
          <a:prstGeom prst="line">
            <a:avLst/>
          </a:prstGeom>
          <a:ln w="1524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11880" y="3566160"/>
            <a:ext cx="2011680" cy="64008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read_only_ops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4251960"/>
            <a:ext cx="1463040" cy="594360"/>
          </a:xfrm>
          <a:prstGeom prst="line">
            <a:avLst/>
          </a:prstGeom>
          <a:ln w="12700">
            <a:solidFill>
              <a:srgbClr val="BBBB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971800"/>
            <a:ext cx="1508760" cy="594360"/>
          </a:xfrm>
          <a:prstGeom prst="line">
            <a:avLst/>
          </a:prstGeom>
          <a:ln w="1524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0" y="3566160"/>
            <a:ext cx="2011680" cy="64008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diagnosis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4251960"/>
            <a:ext cx="1508760" cy="594360"/>
          </a:xfrm>
          <a:prstGeom prst="line">
            <a:avLst/>
          </a:prstGeom>
          <a:ln w="12700">
            <a:solidFill>
              <a:srgbClr val="BBBB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971800"/>
            <a:ext cx="4480559" cy="594360"/>
          </a:xfrm>
          <a:prstGeom prst="line">
            <a:avLst/>
          </a:prstGeom>
          <a:ln w="1524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3566160"/>
            <a:ext cx="2011680" cy="6400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mutation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80760" y="4251960"/>
            <a:ext cx="4480559" cy="594360"/>
          </a:xfrm>
          <a:prstGeom prst="line">
            <a:avLst/>
          </a:prstGeom>
          <a:ln w="12700">
            <a:solidFill>
              <a:srgbClr val="BBBB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46320" y="4846320"/>
            <a:ext cx="2468880" cy="50292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finish  ─ 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🔑 关键点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执行器节点不是写死的 —— 由 Vertical 传入的 executors 列表决定，BaseAgent 动态 add_node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每个 executor 执行完必须回到 planner 节点，由 advance() 决定 CONTINUE / REPLAN / FINISH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execution_target 字段（§7.2）优先于 route，为未来 Supervisor 派发跨 Agent 预留语义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Planner —— 计划生成 + 前进决策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两大职责：initial_plan() 和 advance()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Menlo"/>
              </a:rPr>
              <a:t>initial_plan(request) →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30352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1. self._split_compound(message)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→ Kernel 默认返回 [message]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→ OpsPlanner 覆写用中文关键词拆分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2. for each segment: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decision = await router.route(sub_request)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step = PlanStep(route, intent, goal, ...)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3. 串成 Plan 带 depends_on 依赖关系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扩展点：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▸ _split_compound(message) -&gt; list[str]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▸ _dedupe_segments(segments, limit=3)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E5F4E9"/>
          </a:solidFill>
          <a:ln w="12700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Menlo"/>
              </a:rPr>
              <a:t>advance(plan, last_step) →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21208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决策逻辑（有优先级）：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1. iterations ≥ max_iterations → FINISH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（硬预算，防 AI 死循环，默认 6）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2. last_step.status == FAILED → FINISH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（fail-fast，除非 Vertical 覆写）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3. 还有 PENDING 步骤 → CONTINUE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（推进 cursor 到下一个 pending）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4. _maybe_replan(plan, last) → REPLAN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（Vertical 覆写追加步骤）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5. 否则 →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Router —— 意图识别与路由决策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从自然语言到 RouteDecision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Menlo"/>
              </a:rPr>
              <a:t>契约：RouterBase (ABC)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303520" cy="20116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class RouterBase(ABC):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@abstractmethod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async def route(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    self, request: ChatRequest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) -&gt; RouteDecision: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   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RouteDecision 字段：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• intent: IntentTypeKey ("query_mysql" 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59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• route:  RouteKey ("knowledge" / "mutation" 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79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• risk_level: LOW / MEDIUM / HIGH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799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• requires_approval: bool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19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• rationale: str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F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922A"/>
                </a:solidFill>
                <a:latin typeface="Menlo"/>
              </a:rPr>
              <a:t>Ops 实现：IntentRouter（关键词）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5212080" cy="4114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常见映射规则：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"MySQL / 地址 / 密码 / 联系"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 → knowledge / LOW / no-approval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"pod / 日志 / 状态 / 查"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 → read_only_ops / LOW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"为什么 / 根因 / 故障 / 异常"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 → diagnosis / MEDIUM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"重启 / 部署 / 回滚 / 删除"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 → mutation / HIGH / 必审批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进阶实现可换成 LLM-based Router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（只要继承 RouterBase 即可）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ExecutorBase —— 执行器抽象基类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每个 route 对应一个 Executor；Vertical 自由扩展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137160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64240" cy="11887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class ExecutorBase(ABC):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def __init__(self, *, node_name: str, route_name: str):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    self.node_name = node_name    # LangGraph 节点名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    self.route_name = route_name  # 逻辑路由名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@abstractmethod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async def execute(self, state: dict, event_callback=None) -&gt; dict: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    """返回 {final_message, tool_calls, sources, ...}"""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PingFang SC"/>
              </a:rPr>
              <a:t>Kernel 内置的可选基类（agent_kernel.patterns/）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623560" cy="50292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enlo"/>
              </a:rPr>
              <a:t>MultiHypothesisExecutor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6235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440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ingFang SC"/>
              </a:rPr>
              <a:t>多假设并行诊断模式 · 5 stage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544068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nlo"/>
              </a:rPr>
              <a:t>✓  _collect_symptoms
✓  _generate_hypotheses
✓  _evidence_args_for
✓  _score_and_summarize
✓  _persist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623560" cy="50292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enlo"/>
              </a:rPr>
              <a:t>ApprovalGateExecutor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6235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440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ingFang SC"/>
              </a:rPr>
              <a:t>审批闸门执行器 · 先验 receipt 再放行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544068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nlo"/>
              </a:rPr>
              <a:t>✓  _execute_approved
   (只在 approval_policy 通过后才会调用)
✓  _denial_message
   (可覆写拒绝话术)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ToolRegistry + MCP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本地工具 + 远程 MCP 工具统一 ToolSpec，统一 retrieve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Menlo"/>
              </a:rPr>
              <a:t>ToolSpec：工具元数据契约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303520" cy="29260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class ToolSpec(BaseModel):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name: str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description: str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tags: list[str] = []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route_affinity: list[str] = []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side_effect: bool = False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source: ToolSource  # LOCAL / MCP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parameters_schema: dict =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关键字段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1100" b="0">
                <a:solidFill>
                  <a:srgbClr val="333333"/>
                </a:solidFill>
                <a:latin typeface="PingFang SC"/>
              </a:rPr>
              <a:t>• side_effect=True ⇒ Kernel 自动要求 approval</a:t>
            </a:r>
          </a:p>
          <a:p>
            <a:pPr algn="l">
              <a:spcAft>
                <a:spcPts val="1600"/>
              </a:spcAft>
            </a:pPr>
            <a:r>
              <a:rPr sz="1100" b="0">
                <a:solidFill>
                  <a:srgbClr val="333333"/>
                </a:solidFill>
                <a:latin typeface="PingFang SC"/>
              </a:rPr>
              <a:t>• route_affinity ⇒ retrieve 时优先匹配该路由的工具</a:t>
            </a:r>
          </a:p>
          <a:p>
            <a:pPr algn="l">
              <a:spcAft>
                <a:spcPts val="1600"/>
              </a:spcAft>
            </a:pPr>
            <a:r>
              <a:rPr sz="1100" b="0">
                <a:solidFill>
                  <a:srgbClr val="333333"/>
                </a:solidFill>
                <a:latin typeface="PingFang SC"/>
              </a:rPr>
              <a:t>• source=MCP ⇒ 远端工具，通过 MCPClient 转发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F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922A"/>
                </a:solidFill>
                <a:latin typeface="Menlo"/>
              </a:rPr>
              <a:t>MCP Gateway：远程工具零代码接入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212080" cy="4114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典型调用链：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1. MCPClient.register_server(name, url)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2. await client.load_tools(name)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3. for tool_spec in discovered: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 registry.register_mcp(spec, handler)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4. 后续 registry.retrieve(goal, route, top_k)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把本地 + MCP 工具一起返回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5. 调用时 handler.ainvoke(args) 统一接口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→ 本地直接执行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→ MCP 转发到远端服务器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效果：不写一行代码就能接入一个</a:t>
            </a:r>
          </a:p>
          <a:p>
            <a:pPr algn="l">
              <a:spcAft>
                <a:spcPts val="17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  新的 MCP-compatible 工具服务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Memory —— 分层记忆 + RBAC + 后端抽象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Schema 管谁能写什么层；Backend 管怎么存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Menlo"/>
              </a:rPr>
              <a:t>MemorySchema —— RBAC 层定义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303520" cy="1645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schema = MemorySchema(layers={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"facts":        {"knowledge"},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"observations": {"read_ops"},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"hypotheses":   {"diagnosis"},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"plans":        {"planner"},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关键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512064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• assert_can_write(layer, writer)</a:t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非白名单身份 → PermissionError</a:t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• session_store.write_memory_item(...)</a:t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每次写入自动调 assert_can_write</a:t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• session_store.resolve_memory_value(...)</a:t>
            </a:r>
          </a:p>
          <a:p>
            <a:pPr algn="l">
              <a:spcAft>
                <a:spcPts val="330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按优先顺序读取多层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E5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Menlo"/>
              </a:rPr>
              <a:t>MemoryBackend —— 存储可替换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212080" cy="4114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class MemoryBackend(ABC):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def get(session, key): ...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def put(session, key, val): ...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 def list(session, prefix): ...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已有实现：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• InMemoryMemoryBackend (默认)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未来可替换：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• RedisMemoryBackend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• PostgresMemoryBackend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• VectorMemoryBackend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⚠  每个 Vertical 持有独立实例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Menlo"/>
              </a:rPr>
              <a:t>   (§5.5 约束：不共享状态)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Approval —— 审批凭据绑定步骤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只认 ApprovalReceipt，不认 context.approved=true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ApprovalReceipt 的 5 个关键字段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900"/>
              </a:spcAft>
            </a:pPr>
            <a:r>
              <a:rPr sz="1300" b="0">
                <a:solidFill>
                  <a:srgbClr val="333333"/>
                </a:solidFill>
                <a:latin typeface="Menlo"/>
              </a:rPr>
              <a:t>• receipt_id     — 唯一凭据 ID，可追溯</a:t>
            </a:r>
          </a:p>
          <a:p>
            <a:pPr algn="l">
              <a:spcAft>
                <a:spcPts val="3900"/>
              </a:spcAft>
            </a:pPr>
            <a:r>
              <a:rPr sz="1300" b="0">
                <a:solidFill>
                  <a:srgbClr val="333333"/>
                </a:solidFill>
                <a:latin typeface="Menlo"/>
              </a:rPr>
              <a:t>• step_id        — 绑定到具体 PlanStep（换步骤就失效）</a:t>
            </a:r>
          </a:p>
          <a:p>
            <a:pPr algn="l">
              <a:spcAft>
                <a:spcPts val="3900"/>
              </a:spcAft>
            </a:pPr>
            <a:r>
              <a:rPr sz="1300" b="0">
                <a:solidFill>
                  <a:srgbClr val="333333"/>
                </a:solidFill>
                <a:latin typeface="Menlo"/>
              </a:rPr>
              <a:t>• approved_by    — 谁批的</a:t>
            </a:r>
          </a:p>
          <a:p>
            <a:pPr algn="l">
              <a:spcAft>
                <a:spcPts val="3900"/>
              </a:spcAft>
            </a:pPr>
            <a:r>
              <a:rPr sz="1300" b="0">
                <a:solidFill>
                  <a:srgbClr val="333333"/>
                </a:solidFill>
                <a:latin typeface="Menlo"/>
              </a:rPr>
              <a:t>• scope          — 生效范围（某个 namespace / 某笔金额）</a:t>
            </a:r>
          </a:p>
          <a:p>
            <a:pPr algn="l">
              <a:spcAft>
                <a:spcPts val="3900"/>
              </a:spcAft>
            </a:pPr>
            <a:r>
              <a:rPr sz="1300" b="0">
                <a:solidFill>
                  <a:srgbClr val="333333"/>
                </a:solidFill>
                <a:latin typeface="Menlo"/>
              </a:rPr>
              <a:t>• expires_at     — 过期时间（默认几分钟）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PingFang SC"/>
              </a:rPr>
              <a:t>ApprovalPolicy.evaluate() 验证流程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457200" cy="4114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886200"/>
            <a:ext cx="10607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0448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step 存在且 requires_approval=True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04487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</a:rPr>
              <a:t>失败 → 否则拒绝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457200" cy="4114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10607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0740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context 里有合法的 approval_receipt 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07407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</a:rPr>
              <a:t>失败 → 否则拒绝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457200" cy="4114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892040"/>
            <a:ext cx="10607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91032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receipt.step_id == 当前 step.step_id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910327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</a:rPr>
              <a:t>防止凭据复用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59"/>
            <a:ext cx="457200" cy="4114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394959"/>
            <a:ext cx="10607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41324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receipt.expires_at &gt; 现在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413247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</a:rPr>
              <a:t>过期即失效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97879"/>
            <a:ext cx="457200" cy="4114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897879"/>
            <a:ext cx="10607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91616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PingFang SC"/>
              </a:rPr>
              <a:t>Vertical 可覆写 validate_receipt 做额外校验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916167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</a:rPr>
              <a:t>金额 / namespace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Audit —— 全量可审计 + 脱敏 + SIEM 推送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每次工具调用产生一条 AuditEntry；支持 sanitizer / sink 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Menlo"/>
              </a:rPr>
              <a:t>AuditEntry 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timestamp      datetime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user_id        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session_id     str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intent         Optional[IntentTypeKey]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route          Optional[RouteKey]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risk_level     Optional[RiskLevel]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needs_approval bool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tool_name      Optional[str]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79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tool_calls     list[str]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19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params         dict      # ← sanitize 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59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result_summary 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399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success        bool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39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duration_ms    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E5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A06B"/>
                </a:solidFill>
                <a:latin typeface="Menlo"/>
              </a:rPr>
              <a:t>扩展钩子：sanitizer / sink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011680"/>
            <a:ext cx="5212080" cy="219456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logger.add_sanitizer(lambda params: {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**params,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'password': '***',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'token':    '***',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})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logger.add_sink(siem_sink)  # 写 SIEM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logger.add_sink(metrics_sink) # 上报指标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521208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▸ Sanitizers 顺序执行，失败不影响下游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▸ Sinks 独立异常隔离（一个挂了不传染）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▸ 默认 sanitizer 已覆盖 password/token/ak/sk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/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▸ Kernel 强制：所有 tool call 必过 log()</a:t>
            </a:r>
          </a:p>
          <a:p>
            <a:pPr algn="l">
              <a:spcAft>
                <a:spcPts val="23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  →  Ops / 客服 / 数据 Agent 自动同样受审计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3  Agent Kernel 深度讲解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Kernel 的 5 条不变量（§4.2）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任何 Vertical 都不能违反 —— 业务代码绕不过去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914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37160" cy="91440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D04545"/>
                </a:solidFill>
                <a:latin typeface="Helvetica Neue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087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side_effect 工具 + 必须 receipt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01952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side_effect=True 的工具只能被 requires_approval=True 的 PlanStep 调用，
且必须携带与该 step 绑定、可校验、未过期的 approval_receipt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04545"/>
                </a:solidFill>
                <a:latin typeface="PingFang SC"/>
              </a:rPr>
              <a:t>E2E 测试 B01-B04 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50592"/>
            <a:ext cx="11247120" cy="914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450592"/>
            <a:ext cx="137160" cy="9144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6922A"/>
                </a:solidFill>
                <a:latin typeface="Helvetica Neue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496312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所有工具调用走 _invoke_tool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89504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必审计、必脱敏；业务代码不能越过 Kernel 直接调 handler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770632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6922A"/>
                </a:solidFill>
                <a:latin typeface="PingFang SC"/>
              </a:rPr>
              <a:t>E2E 测试 B08 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38144"/>
            <a:ext cx="11247120" cy="914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438144"/>
            <a:ext cx="137160" cy="91440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83864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7A4FB5"/>
                </a:solidFill>
                <a:latin typeface="Helvetica Neue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83864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记忆写入必须过 RBAC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77056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write_memory_item 先 assert_can_write；非法 writer → PermissionError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58184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A4FB5"/>
                </a:solidFill>
                <a:latin typeface="PingFang SC"/>
              </a:rPr>
              <a:t>E2E 测试 B05 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25696"/>
            <a:ext cx="11247120" cy="914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425696"/>
            <a:ext cx="137160" cy="9144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71416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E5BBA"/>
                </a:solidFill>
                <a:latin typeface="Helvetica Neue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71416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max_iterations 是硬预算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64608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超过立即 FINISH，防止 AI 死循环烧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745736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E5BBA"/>
                </a:solidFill>
                <a:latin typeface="PingFang SC"/>
              </a:rPr>
              <a:t>E2E 测试 B06 覆盖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413248"/>
            <a:ext cx="11247120" cy="914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413248"/>
            <a:ext cx="137160" cy="91440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45896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EA06B"/>
                </a:solidFill>
                <a:latin typeface="Helvetica Neue"/>
              </a:rPr>
              <a:t>#5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458968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PingFang SC"/>
              </a:rPr>
              <a:t>FAILED 默认 fail-fast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5216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一步失败就停车；Vertical 可通过 _maybe_replan 覆写，但必须显式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733288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EA06B"/>
                </a:solidFill>
                <a:latin typeface="PingFang SC"/>
              </a:rPr>
              <a:t>E2E 测试 B07 覆盖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4  OpsAgent 垂直实现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OpsAgent 组成：装配就是套壳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create_ops_agent() 把 Kernel 组件拼起来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19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42062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def create_ops_agent() -&gt; OpsAgent: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registry      = create_tool_registry()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register_ops_builtins(registry)              # 12 个 Ops 工具注册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audit_logger  = create_audit_logger()        # 默认脱敏已内置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session_store = create_session_store(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    memory_schema=OPS_MEMORY_SCHEMA,         # 6 层 Ops 语义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)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mcp_client    = create_mcp_client(registry=registry)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return OpsAgent(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    session_store   = session_store,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    tool_registry   = registry,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    audit_logger    = audit_logger,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    mcp_client      = mcp_client,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   )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 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# OpsAgent.__init__ 内部：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#   router          = IntentRouter()             # 关键词路由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#   planner         = OpsPlanner(router=router)  # 中文复合拆分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#   approval_policy = OpsApprovalPolicy()        # 生产 namespace 必审批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Menlo"/>
              </a:rPr>
              <a:t>#   executors       = [Knowledge, ReadOnly, Diagnosis, Mutation]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11247120" cy="4572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33872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想做新 Vertical？复制这个文件，替换 4 个 Ops 专有组件即可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4  OpsAgent 垂直实现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OpsAgent 的 4 个 Executor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每个路由都有明确的职责、工具范围、记忆写入权限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50292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KnowledgeExecutor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EA06B"/>
                </a:solidFill>
                <a:latin typeface="Menlo"/>
              </a:rPr>
              <a:t>route =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职责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514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回答「MySQL 地址」「联系人」等静态知识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典型工具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25146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query_knowledge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记忆写入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EA06B"/>
                </a:solidFill>
                <a:latin typeface="PingFang SC"/>
              </a:rPr>
              <a:t>facts 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463040"/>
            <a:ext cx="2697480" cy="50292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ReadOnlyOpsExecutor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96596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103120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E5BBA"/>
                </a:solidFill>
                <a:latin typeface="Menlo"/>
              </a:rPr>
              <a:t>route = read_only_ops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4688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职责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743200"/>
            <a:ext cx="2514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查 pod / 日志 / 部署状态 / Jenkins 构建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8404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典型工具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14800"/>
            <a:ext cx="25146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get_pod_status, get_pod_logs,
search_logs, query_jenkins_build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80644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记忆写入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60807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E5BBA"/>
                </a:solidFill>
                <a:latin typeface="PingFang SC"/>
              </a:rPr>
              <a:t>observations 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1463040"/>
            <a:ext cx="2697480" cy="50292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DiagnosisExecutor 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96596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03120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7A4FB5"/>
                </a:solidFill>
                <a:latin typeface="Menlo"/>
              </a:rPr>
              <a:t>route = diagnosis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4688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职责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743200"/>
            <a:ext cx="2514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多假设并行 + 证据收集 + 打分 + 根因总结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8404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典型工具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114800"/>
            <a:ext cx="25146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diagnose_pod, get_pod_status,
search_logs, get_error_statistics 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80644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记忆写入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0807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7A4FB5"/>
                </a:solidFill>
                <a:latin typeface="PingFang SC"/>
              </a:rPr>
              <a:t>hypotheses 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1463040"/>
            <a:ext cx="2697480" cy="50292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MutationExecutor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196596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2103120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Menlo"/>
              </a:rPr>
              <a:t>route = mutation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4688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职责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743200"/>
            <a:ext cx="2514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变更操作：重启 / 发布 / 回滚，必带 receipt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84048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典型工具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114800"/>
            <a:ext cx="25146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restart_pod, restart_deployment,
trigger_jenkins_build 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580644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PingFang SC"/>
              </a:rPr>
              <a:t>记忆写入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60807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PingFang SC"/>
              </a:rPr>
              <a:t>plans + execution 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4  OpsAgent 垂直实现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OpsPlanner —— 复合请求的中文拆分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_split_compound 覆写示例：把一句话拆成多步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用户原句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47120" cy="457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E5BBA"/>
                </a:solidFill>
                <a:latin typeface="PingFang SC"/>
              </a:rPr>
              <a:t>「先查一下 staging pod 状态，然后帮我重启 order-service」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331720"/>
            <a:ext cx="0" cy="3200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OpsPlanner._split_compound() 的正则规则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13716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 bIns="91440"/>
          <a:lstStyle/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_OPS_SPLIT_PATTERNS = [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re.compile(r"\s*然后\s*"),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re.compile(r"\s*接着\s*"),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re.compile(r"\s*再\s*(?=(?:帮|把|重|触|回|生|执))"),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    re.compile(r"\s*,\s*然后\s*"),  # 中英逗号两种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Menlo"/>
              </a:rPr>
              <a:t>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526280"/>
            <a:ext cx="0" cy="3200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拆出 2 个 PlanStep（带依赖关系）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5577840" cy="105156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Step 1
查 staging pod 状态
route = read_only_ops · LOW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5870448"/>
            <a:ext cx="274320" cy="0"/>
          </a:xfrm>
          <a:prstGeom prst="line">
            <a:avLst/>
          </a:prstGeom>
          <a:ln w="25400">
            <a:solidFill>
              <a:srgbClr val="F692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5349240"/>
            <a:ext cx="5394960" cy="105156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Step 2  (depends_on=[Step1])
重启 order-service
route = mutation · HIGH · 必审批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4  OpsAgent 垂直实现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OpsApprovalPolicy + OPS_MEMORY_SCHEMA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Ops 填好的两个安全相关插件槽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23560" cy="4937760"/>
          </a:xfrm>
          <a:prstGeom prst="roundRect">
            <a:avLst/>
          </a:prstGeom>
          <a:solidFill>
            <a:srgbClr val="F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922A"/>
                </a:solidFill>
                <a:latin typeface="Menlo"/>
              </a:rPr>
              <a:t>OpsApprovalPolicy（risk_policy.py）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风险矩阵：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737360" cy="320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namespace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2286000"/>
            <a:ext cx="1737360" cy="320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route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1828800" cy="320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33472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default / staging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39" y="2633472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read_only_ops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633472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EA06B"/>
                </a:solidFill>
                <a:latin typeface="PingFang SC"/>
              </a:rPr>
              <a:t>✓ 放行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80944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default / staging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39" y="2980944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diagnosis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980944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EA06B"/>
                </a:solidFill>
                <a:latin typeface="PingFang SC"/>
              </a:rPr>
              <a:t>✓ 放行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28415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default / staging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39" y="3328415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mutation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328415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⚠ 需 receipt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75887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39" y="3675887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read_only_ops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675887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EA06B"/>
                </a:solidFill>
                <a:latin typeface="PingFang SC"/>
              </a:rPr>
              <a:t>✓ 放行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23359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39" y="4023359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mutation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4023359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D04545"/>
                </a:solidFill>
                <a:latin typeface="PingFang SC"/>
              </a:rPr>
              <a:t>🛑 必须审批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70831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39" y="4370831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PingFang SC"/>
              </a:rPr>
              <a:t>delete*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370831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D04545"/>
                </a:solidFill>
                <a:latin typeface="PingFang SC"/>
              </a:rPr>
              <a:t>🛑 双人复核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417320"/>
            <a:ext cx="5486400" cy="49377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2E5BBA"/>
                </a:solidFill>
                <a:latin typeface="Menlo"/>
              </a:rPr>
              <a:t>OPS_MEMORY_SCHEMA (memory_schema.py)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6 层记忆 + 对应 writer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331720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facts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350008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事实层：服务地址、联系人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237743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knowledge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2834639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observations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852927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观察层：pod 状态、日志片段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288035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read_ops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337559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hypotheses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355847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假设层：诊断假设 + 评分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338327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diagnosis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3840479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plans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3858767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计划层：变更计划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388619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change_planner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4343399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execution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361687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执行层：已执行动作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438911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change_executor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4846319"/>
            <a:ext cx="146304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verification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864607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验证层：验证结果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35640" y="4892039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6922A"/>
                </a:solidFill>
                <a:latin typeface="Menlo"/>
              </a:rPr>
              <a:t>verifier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5  关键执行流程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一次 chat() 请求的完整流水线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从 HTTP 入口到 Audit 落盘的 9 个阶段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23 / 32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417320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API 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ChatRequest(message, user_id, session_id)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1947672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947672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1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状态构建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93391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_build_initial_state 读取最近 6 条消息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478024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478024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523744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Planner 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23744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initial_plan → 拆分 → 第一个 PlanStep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008376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054096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Dispatcher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054096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按 execution_target 或 route → 挑选节点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3538728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58444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Executor 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58444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执行器调 _invoke_tool 执行工具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069080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1148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Approval 闸门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114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side_effect 工具必须过 ApprovalPolicy.evaluate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599432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4599432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645152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_invoke_tool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645152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调用 handler.ainvoke + Audit 落盘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5129784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" y="5175504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Memory 写入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75504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按 Schema RBAC 写入对应层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5660136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5660136"/>
            <a:ext cx="10424160" cy="457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5705856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回到 Planner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705856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nlo"/>
              </a:rPr>
              <a:t>advance → CONTINUE / REPLAN / FINISH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2E5BBA"/>
                </a:solidFill>
                <a:latin typeface="PingFang SC"/>
              </a:rPr>
              <a:t>🔁 ③–⑨ 循环直到 FINISH 或 max_iterations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5  关键执行流程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审批闸门的工作原理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side_effect 工具从 _invoke_tool 到 handler 之间必经这个门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286000" cy="64008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</a:rPr>
              <a:t>Executor.execute()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783080"/>
            <a:ext cx="36576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1463040"/>
            <a:ext cx="256032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</a:rPr>
              <a:t>await _invoke_tool(...)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1783080"/>
            <a:ext cx="36576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463040"/>
            <a:ext cx="2926080" cy="6400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ToolRegistry.get_spec(tool)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1783080"/>
            <a:ext cx="36576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1463040"/>
            <a:ext cx="2103120" cy="64008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spec.side_effect?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52760" y="2148840"/>
            <a:ext cx="0" cy="685800"/>
          </a:xfrm>
          <a:prstGeom prst="line">
            <a:avLst/>
          </a:prstGeom>
          <a:ln w="19050">
            <a:solidFill>
              <a:srgbClr val="2EA0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44200" y="228600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2EA06B"/>
                </a:solidFill>
                <a:latin typeface="PingFang SC"/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834640"/>
            <a:ext cx="2103120" cy="54864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直接执行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217920" y="1783080"/>
            <a:ext cx="3383280" cy="1097280"/>
          </a:xfrm>
          <a:prstGeom prst="line">
            <a:avLst/>
          </a:prstGeom>
          <a:ln w="25400">
            <a:solidFill>
              <a:srgbClr val="D0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210312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D04545"/>
                </a:solidFill>
                <a:latin typeface="PingFang SC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834640"/>
            <a:ext cx="2560320" cy="64008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</a:rPr>
              <a:t>approval_policy.evaluate()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3474720"/>
            <a:ext cx="0" cy="4572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3931920"/>
            <a:ext cx="3474720" cy="137160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❌ 未批准
ToolCallEvent.status = FAILED
返回 {"error": "需要审批..."}
Audit 照样记录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931920"/>
            <a:ext cx="3474720" cy="137160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✅ 批准
handler.ainvoke(args)
status = SUCCESS
Memory 写入 + Audit 落盘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💡 关键：这条路径由 Kernel 在 _invoke_tool 里强制执行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Vertical 想绕过？唯一办法是不走 _invoke_tool —— 但那就没有审计了，两难。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5  关键执行流程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DiagnosisExecutor —— 多假设并行诊断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「多个假设 · 并行取证 · 启发式打分 · 归纳结论」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25 / 32</a:t>
            </a:r>
          </a:p>
        </p:txBody>
      </p:sp>
      <p:sp>
        <p:nvSpPr>
          <p:cNvPr id="7" name="Oval 6"/>
          <p:cNvSpPr/>
          <p:nvPr/>
        </p:nvSpPr>
        <p:spPr>
          <a:xfrm>
            <a:off x="1303019" y="146304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331720" cy="292608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PingFang SC"/>
              </a:rPr>
              <a:t>症状采集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2E5BBA"/>
                </a:solidFill>
                <a:latin typeface="Menlo"/>
              </a:rPr>
              <a:t>_collect_symptoms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965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diagnose_pod
get_pod_status
search_logs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474720"/>
            <a:ext cx="118872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80459" y="146304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199" y="2011680"/>
            <a:ext cx="2331720" cy="2926080"/>
          </a:xfrm>
          <a:prstGeom prst="roundRect">
            <a:avLst/>
          </a:prstGeom>
          <a:solidFill>
            <a:srgbClr val="E5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21488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PingFang SC"/>
              </a:rPr>
              <a:t>假设生成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5603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2E5BBA"/>
                </a:solidFill>
                <a:latin typeface="Menlo"/>
              </a:rPr>
              <a:t>_generate_hypotheses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3017520"/>
            <a:ext cx="1965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LLM + 拓扑 + 候选工具
→ 至多 4 条互不重复
  Hypothesis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199" y="3474720"/>
            <a:ext cx="118872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57900" y="146304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11680"/>
            <a:ext cx="2331720" cy="2926080"/>
          </a:xfrm>
          <a:prstGeom prst="roundRect">
            <a:avLst/>
          </a:prstGeom>
          <a:solidFill>
            <a:srgbClr val="F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1488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PingFang SC"/>
              </a:rPr>
              <a:t>并行取证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603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2E5BBA"/>
                </a:solidFill>
                <a:latin typeface="Menlo"/>
              </a:rPr>
              <a:t>_collect_evidence_parallel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17520"/>
            <a:ext cx="1965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asyncio.gather
每假设 ≤ 2 个
证据工具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39" y="3474720"/>
            <a:ext cx="118872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435340" y="146304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011680"/>
            <a:ext cx="2331720" cy="2926080"/>
          </a:xfrm>
          <a:prstGeom prst="roundRect">
            <a:avLst/>
          </a:prstGeom>
          <a:solidFill>
            <a:srgbClr val="F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1488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PingFang SC"/>
              </a:rPr>
              <a:t>打分合成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5603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2E5BBA"/>
                </a:solidFill>
                <a:latin typeface="Menlo"/>
              </a:rPr>
              <a:t>_score_and_synthesize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3017520"/>
            <a:ext cx="1965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启发式：error/oom/
crashloop → +1.8
疑点对象匹配 → +0.5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84080" y="3474720"/>
            <a:ext cx="118872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812780" y="1463040"/>
            <a:ext cx="457200" cy="45720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19" y="2011680"/>
            <a:ext cx="2331720" cy="292608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21488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PingFang SC"/>
              </a:rPr>
              <a:t>写入记忆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25603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2E5BBA"/>
                </a:solidFill>
                <a:latin typeface="Menlo"/>
              </a:rPr>
              <a:t>_write_memory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399" y="3017520"/>
            <a:ext cx="1965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nlo"/>
              </a:rPr>
              <a:t>每条 hypothesis 一条
+ top_hypothesis_id
+ diagnosis_summary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72000"/>
            <a:ext cx="11247120" cy="457200"/>
          </a:xfrm>
          <a:prstGeom prst="roundRect">
            <a:avLst/>
          </a:prstGeom>
          <a:solidFill>
            <a:srgbClr val="F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645152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6922A"/>
                </a:solidFill>
                <a:latin typeface="PingFang SC"/>
              </a:rPr>
              <a:t>🛟 降级路径：假设生成失败 / LLM 不可用 → _fallback_single_chain 仍然返回已收集症状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✨ 这个 5-stage pipeline 已被抽成 Kernel 的 MultiHypothesisExecutor 基类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未来客服 Agent 也可以继承："退款 / 漏发 / 延迟" 三条假设并行查 → 打分归纳根因
这就是 §5.3 / §6 #10 要求的"可选基类"模式库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5  关键执行流程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实战例子：复合请求的全链路时序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「先查 staging pod，然后重启 order-service」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11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t=0ms  用户："先查一下 staging pod 状态，然后帮我重启 order-service"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t=5ms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2029968"/>
            <a:ext cx="182880" cy="18288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1920240"/>
            <a:ext cx="219456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Planner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920240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965960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OpsPlanner._split_compound 分出 2 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157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t=8ms</a:t>
            </a:r>
          </a:p>
        </p:txBody>
      </p:sp>
      <p:sp>
        <p:nvSpPr>
          <p:cNvPr id="15" name="Oval 14"/>
          <p:cNvSpPr/>
          <p:nvPr/>
        </p:nvSpPr>
        <p:spPr>
          <a:xfrm>
            <a:off x="1417320" y="2779776"/>
            <a:ext cx="182880" cy="182880"/>
          </a:xfrm>
          <a:prstGeom prst="ellipse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37360" y="2670048"/>
            <a:ext cx="2194560" cy="45720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Router ×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670048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715768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route(Step1)=read_only_ops / LOW
route(Step2)=mutation / HIGH / 必审批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65575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t=30ms</a:t>
            </a:r>
          </a:p>
        </p:txBody>
      </p:sp>
      <p:sp>
        <p:nvSpPr>
          <p:cNvPr id="20" name="Oval 19"/>
          <p:cNvSpPr/>
          <p:nvPr/>
        </p:nvSpPr>
        <p:spPr>
          <a:xfrm>
            <a:off x="1417320" y="3529584"/>
            <a:ext cx="182880" cy="182880"/>
          </a:xfrm>
          <a:prstGeom prst="ellipse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37360" y="3419856"/>
            <a:ext cx="219456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1 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419856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465575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ReadOnlyOpsExecutor.execute
  → _invoke_tool('get_pod_status', namespace=staging)
  → Audit 落盘 + Memory 写 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15383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t=45ms</a:t>
            </a:r>
          </a:p>
        </p:txBody>
      </p:sp>
      <p:sp>
        <p:nvSpPr>
          <p:cNvPr id="25" name="Oval 24"/>
          <p:cNvSpPr/>
          <p:nvPr/>
        </p:nvSpPr>
        <p:spPr>
          <a:xfrm>
            <a:off x="1417320" y="4279392"/>
            <a:ext cx="182880" cy="1828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37360" y="4169663"/>
            <a:ext cx="2194560" cy="45720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advance()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169663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215383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Plan cursor → Step 2；返回 CONTINUE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6519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t=48ms</a:t>
            </a:r>
          </a:p>
        </p:txBody>
      </p:sp>
      <p:sp>
        <p:nvSpPr>
          <p:cNvPr id="30" name="Oval 29"/>
          <p:cNvSpPr/>
          <p:nvPr/>
        </p:nvSpPr>
        <p:spPr>
          <a:xfrm>
            <a:off x="1417320" y="5029200"/>
            <a:ext cx="182880" cy="182880"/>
          </a:xfrm>
          <a:prstGeom prst="ellipse">
            <a:avLst/>
          </a:prstGeom>
          <a:solidFill>
            <a:srgbClr val="D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37360" y="4919472"/>
            <a:ext cx="2194560" cy="45720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2 进入 Mutation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4919472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4965192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Executor 调 _invoke_tool('restart_deployment')
  → ToolSpec.side_effect=True
  → ApprovalPolicy.evaluate 拒绝 (无 receipt)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150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nlo"/>
              </a:rPr>
              <a:t>t=50ms</a:t>
            </a:r>
          </a:p>
        </p:txBody>
      </p:sp>
      <p:sp>
        <p:nvSpPr>
          <p:cNvPr id="35" name="Oval 34"/>
          <p:cNvSpPr/>
          <p:nvPr/>
        </p:nvSpPr>
        <p:spPr>
          <a:xfrm>
            <a:off x="1417320" y="5779008"/>
            <a:ext cx="182880" cy="18288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37360" y="5669280"/>
            <a:ext cx="2194560" cy="4572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返回用户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5669280"/>
            <a:ext cx="768096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5715000"/>
            <a:ext cx="74980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"此操作需要审批，请先批准……"
Audit 照样记录一条 FAILED 条目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6  插件化与扩展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10 个插件点：Kernel 对外的所有扩展面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Vertical 就是"填这些槽位"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" cy="3657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417320"/>
            <a:ext cx="2286000" cy="3657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插件点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4114800" cy="3657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基类 / 契约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17320"/>
            <a:ext cx="5212080" cy="3657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Ops 填了什么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486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783080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路由器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783080"/>
            <a:ext cx="4114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RouterBase.route() -&gt; RouteDecision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783080"/>
            <a:ext cx="5212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IntentRouter 关键词映射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85416"/>
            <a:ext cx="54864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185416"/>
            <a:ext cx="22860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执行器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185416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ExecutorBase.execute(state) -&gt; 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85416"/>
            <a:ext cx="521208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Knowledge / ReadOnly / Diagnosis / Mutation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5486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587752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587752"/>
            <a:ext cx="4114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@tool + ToolRegistry.register_local/_mcp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587752"/>
            <a:ext cx="5212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K8s / Jenkins / Logs / Knowledge 共 12 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90088"/>
            <a:ext cx="54864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2990088"/>
            <a:ext cx="22860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MCP 服务器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990088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MCPClient.register_server(name, url)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990088"/>
            <a:ext cx="521208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可接入任意 MCP-compatible 远端工具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92424"/>
            <a:ext cx="5486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392424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Planner 定制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392424"/>
            <a:ext cx="4114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Planner 子类 _split_compound / _maybe_replan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3392424"/>
            <a:ext cx="5212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OpsPlanner 中文复合拆分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54864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794760"/>
            <a:ext cx="22860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记忆 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379476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MemorySchema(layers={...})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794760"/>
            <a:ext cx="521208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OPS_MEMORY_SCHEMA 6 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97096"/>
            <a:ext cx="5486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197096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审批策略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197096"/>
            <a:ext cx="4114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ApprovalPolicy.evaluate(step, context)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197096"/>
            <a:ext cx="5212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OpsApprovalPolicy 风险矩阵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99432"/>
            <a:ext cx="54864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4599432"/>
            <a:ext cx="22860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审计扩展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5994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AuditLogger.add_sanitizer / add_sink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599432"/>
            <a:ext cx="521208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Ops 级别脱敏 + SIEM 可扩展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001768"/>
            <a:ext cx="5486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5001768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RBAC 身份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001768"/>
            <a:ext cx="4114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AgentIdentityKey 可注册字符串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5001768"/>
            <a:ext cx="5212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knowledge / read_ops / diagnosis 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404104"/>
            <a:ext cx="54864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6922A"/>
                </a:solidFill>
                <a:latin typeface="PingFang SC"/>
              </a:rPr>
              <a:t>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5404104"/>
            <a:ext cx="22860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Executor 模式库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5404104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Menlo"/>
              </a:rPr>
              <a:t>MultiHypothesisExecutor / ApprovalGateExecutor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5404104"/>
            <a:ext cx="5212080" cy="402336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PingFang SC"/>
              </a:rPr>
              <a:t>Ops DiagnosisExecutor 可继承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6  插件化与扩展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做一个新 Vertical 需要几步？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以假想的「CsmAgent 客服」为例 · ~ 1-2 周工作量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28 / 32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定义记忆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564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6922A"/>
                </a:solidFill>
                <a:latin typeface="Menlo"/>
              </a:rPr>
              <a:t>agent_csm/memory_schema.py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057400"/>
            <a:ext cx="10515600" cy="192023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1031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CSM_MEMORY_SCHEMA = MemorySchema(layers={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317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'user_profile':    {'crm_reader'},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603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'conversation':    {'dialogue'},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889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'order_context':   {'crm_reader'},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175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'escalation_plan': {'supervisor'},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461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})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231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定义风险策略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71576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6922A"/>
                </a:solidFill>
                <a:latin typeface="Menlo"/>
              </a:rPr>
              <a:t>agent_csm/risk_policy.py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017520"/>
            <a:ext cx="10515600" cy="96011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06324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class CsmApprovalPolicy(ApprovalPolicy):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29184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def validate_receipt(...):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2044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    # 退款 &gt; 1000 元 → 需要主管 receipt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3832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定义路由器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67588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6922A"/>
                </a:solidFill>
                <a:latin typeface="Menlo"/>
              </a:rPr>
              <a:t>agent_csm/router.py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977640"/>
            <a:ext cx="10515600" cy="128016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02336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class CsmKeywordRouter(RouterBase):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25196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async def route(request):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48056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    if '退款' in msg:  return RouteDecision(..., 'refund', HIGH)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70916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        if '物流' in msg:  return RouteDecision(..., 'tracking', LOW)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34340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实现执行器 + 注册工具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63600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6922A"/>
                </a:solidFill>
                <a:latin typeface="Menlo"/>
              </a:rPr>
              <a:t>agent_csm/executors/ 和 tools/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4937760"/>
            <a:ext cx="10515600" cy="96011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98348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RefundExecutor / TrackingExecutor / EscalationExecutor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21208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接入 CRM / 订单系统 / 工单系统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5394959"/>
            <a:ext cx="502920" cy="502920"/>
          </a:xfrm>
          <a:prstGeom prst="ellipse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3035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PingFang SC"/>
              </a:rPr>
              <a:t>装配入口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59612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6922A"/>
                </a:solidFill>
                <a:latin typeface="Menlo"/>
              </a:rPr>
              <a:t>agent_csm/__init__.py · create_csm_agent()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20" y="5897880"/>
            <a:ext cx="10515600" cy="96011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594360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复制 create_ops_agent() → 改 schema / policy / router / executors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6172200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Menlo"/>
              </a:rPr>
              <a:t>audit_logger / session_store / mcp_client 等都继续用 Kernel factory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7  演进方向与测试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三级降级路径（§10）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每一级都有明确触发条件和用户感知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29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46304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371600" cy="1188720"/>
          </a:xfrm>
          <a:prstGeom prst="round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7276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2E5BBA"/>
                </a:solidFill>
                <a:latin typeface="PingFang SC"/>
              </a:rPr>
              <a:t>Executor 级降级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9144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触发：单个 executor 抛异常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处理：PlanStepStatus=FAILED → fail-fast → 返回错误说明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用户看到："步骤 X 执行失败：xxx"；其他步骤不继续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63240"/>
            <a:ext cx="11247120" cy="1463040"/>
          </a:xfrm>
          <a:prstGeom prst="roundRect">
            <a:avLst/>
          </a:prstGeom>
          <a:solidFill>
            <a:srgbClr val="F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1371600" cy="1188720"/>
          </a:xfrm>
          <a:prstGeom prst="roundRect">
            <a:avLst/>
          </a:prstGeom>
          <a:solidFill>
            <a:srgbClr val="F6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17296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922A"/>
                </a:solidFill>
                <a:latin typeface="PingFang SC"/>
              </a:rPr>
              <a:t>Planner 级降级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566160"/>
            <a:ext cx="9144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触发：max_iterations 耗尽 / Planner 生成空 Plan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处理：fallback_plan 兜底 → 单 knowledge step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用户看到：AI 进入「普通问答」模式回答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1463040"/>
          </a:xfrm>
          <a:prstGeom prst="roundRect">
            <a:avLst/>
          </a:prstGeom>
          <a:solidFill>
            <a:srgbClr val="FF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800600"/>
            <a:ext cx="1371600" cy="1188720"/>
          </a:xfrm>
          <a:prstGeom prst="roundRect">
            <a:avLst/>
          </a:prstGeom>
          <a:solidFill>
            <a:srgbClr val="D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77316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D04545"/>
                </a:solidFill>
                <a:latin typeface="PingFang SC"/>
              </a:rPr>
              <a:t>Kernel 级降级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166359"/>
            <a:ext cx="9144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触发：Receipt 失败 / 记忆 Backend 故障 / 整个 graph 崩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处理：chat() 外层 try/except → ChatResponse 不崩</a:t>
            </a:r>
          </a:p>
          <a:p>
            <a:pPr algn="l">
              <a:spcAft>
                <a:spcPts val="3000"/>
              </a:spcAft>
            </a:pPr>
            <a:r>
              <a:rPr sz="1200" b="0">
                <a:solidFill>
                  <a:srgbClr val="333333"/>
                </a:solidFill>
                <a:latin typeface="PingFang SC"/>
              </a:rPr>
              <a:t>用户看到："系统暂时不可用"；Audit 仍然落盘错误条目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7  演进方向与测试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测试金字塔与目前覆盖情况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L0 单元 / L1 契约 / L2 E2E —— 共 84 个自动化测试用例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30 / 32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4114800" y="1417320"/>
            <a:ext cx="3931920" cy="1188720"/>
          </a:xfrm>
          <a:prstGeom prst="triangle">
            <a:avLst/>
          </a:prstGeom>
          <a:solidFill>
            <a:srgbClr val="7A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L2 · E2E
27 个</a:t>
            </a:r>
          </a:p>
        </p:txBody>
      </p:sp>
      <p:sp>
        <p:nvSpPr>
          <p:cNvPr id="9" name="Trapezoid 8"/>
          <p:cNvSpPr/>
          <p:nvPr/>
        </p:nvSpPr>
        <p:spPr>
          <a:xfrm>
            <a:off x="3200400" y="2606040"/>
            <a:ext cx="5760720" cy="1097280"/>
          </a:xfrm>
          <a:prstGeom prst="trapezoid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5760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L1 · Kernel 契约
4 个 · 保证 Kernel 不与 Ops 耦合</a:t>
            </a:r>
          </a:p>
        </p:txBody>
      </p:sp>
      <p:sp>
        <p:nvSpPr>
          <p:cNvPr id="11" name="Trapezoid 10"/>
          <p:cNvSpPr/>
          <p:nvPr/>
        </p:nvSpPr>
        <p:spPr>
          <a:xfrm>
            <a:off x="1828800" y="3703320"/>
            <a:ext cx="8503920" cy="1463040"/>
          </a:xfrm>
          <a:prstGeom prst="trapezoid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977639"/>
            <a:ext cx="85039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L0 · 单元测试
53 个 · Planner / Registry / Topology / Memory / Patterns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112471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9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PingFang SC"/>
              </a:rPr>
              <a:t>E2E 测试矩阵（27 个用例分 6 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828800" cy="45720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A  Happy Path 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5943600"/>
            <a:ext cx="1828800" cy="457200"/>
          </a:xfrm>
          <a:prstGeom prst="roundRect">
            <a:avLst/>
          </a:prstGeom>
          <a:solidFill>
            <a:srgbClr val="D0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B  Kernel 不变量 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5943600"/>
            <a:ext cx="1828800" cy="45720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C  插件点 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5943600"/>
            <a:ext cx="1828800" cy="45720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D  Vertical 隔离 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5943600"/>
            <a:ext cx="1828800" cy="4572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E  降级路径 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39" y="5943600"/>
            <a:ext cx="1828800" cy="45720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F  反模式回归 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7  演进方向与测试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未来演进：Supervisor 多 Agent 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</a:rPr>
              <a:t>跨域问题拆给多个 Vertical，最后汇总 —— §7 演进方向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31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5029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用户："Q3 订单为什么下滑？"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931920" cy="73152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Supervisor
（MetaPlanner + AgentProxyExecutor）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34640" y="2788920"/>
            <a:ext cx="3246120" cy="50292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486400" y="2788920"/>
            <a:ext cx="594360" cy="50292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788920"/>
            <a:ext cx="2057400" cy="50292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788920"/>
            <a:ext cx="4709160" cy="50292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3291840"/>
            <a:ext cx="2560320" cy="118872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DataAgent
查销售曲线
SQL + BI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526280"/>
            <a:ext cx="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3291840"/>
            <a:ext cx="2560320" cy="1188720"/>
          </a:xfrm>
          <a:prstGeom prst="roundRect">
            <a:avLst/>
          </a:prstGeom>
          <a:solidFill>
            <a:srgbClr val="2E5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CsmAgent
投诉分类
退款 / 延迟占比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4526280"/>
            <a:ext cx="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3291840"/>
            <a:ext cx="2560320" cy="118872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OpsAgent
线上异常排查
影响转化的故障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4526280"/>
            <a:ext cx="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61120" y="3291840"/>
            <a:ext cx="2560320" cy="1188720"/>
          </a:xfrm>
          <a:prstGeom prst="roundRect">
            <a:avLst/>
          </a:prstGeom>
          <a:solidFill>
            <a:srgbClr val="7A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DocAgent
生成一页
摘要报告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1280" y="4526280"/>
            <a:ext cx="0" cy="45720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5029200"/>
            <a:ext cx="1124712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Supervisor 聚合：联合审批 / 跨 Agent Audit / 统一 ChatResponse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52160"/>
            <a:ext cx="11247120" cy="685800"/>
          </a:xfrm>
          <a:prstGeom prst="round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enlo"/>
              </a:rPr>
              <a:t>🔑 关键机制：PlanStep.execution_target = "agent:data" / "agent:csm" /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已在 PlanStep Schema 预留字段 — 不需要重构 Kernel 就能落地 Supervisor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6922A"/>
                </a:solidFill>
                <a:latin typeface="Helvetica Neue"/>
              </a:rPr>
              <a:t>PART 7  演进方向与测试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PingFang SC"/>
              </a:rPr>
              <a:t>总结 · 路线图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Helvetica Neue"/>
              </a:rPr>
              <a:t>32 /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623560" cy="48463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5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E5BBA"/>
                </a:solidFill>
                <a:latin typeface="PingFang SC"/>
              </a:rPr>
              <a:t>✅ 本次讲解覆盖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Kernel 11 个组件 + 5 条不变量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10 个插件点 + 新 Vertical 五步清单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79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OpsAgent 4 个 Executor + 中文拆分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39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审批凭据 / 多假设诊断 详细流程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8999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三级降级 + 84 个自动化测试覆盖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59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PingFang SC"/>
              </a:rPr>
              <a:t>• Supervisor 演进方向已预留字段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5623560" cy="1325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6922A"/>
                </a:solidFill>
                <a:latin typeface="PingFang SC"/>
              </a:rPr>
              <a:t>核心价值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3035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OpsAgent 只是起点 ——
我们在造一个可以孵化任意
业务 Agent 的基建平台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486400" cy="48463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69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922A"/>
                </a:solidFill>
                <a:latin typeface="PingFang SC"/>
              </a:rPr>
              <a:t>🛣️  路线图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914400" cy="4572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近期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 Neue"/>
              </a:rPr>
              <a:t>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2316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DiagnosisExecutor 接入 MultiHypothesisExecutor 基类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974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接入真实 MCP 服务器（k8s-mcp / jenkins-mcp）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补齐 RedisSessionStore / MemoryBackend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337560"/>
            <a:ext cx="914400" cy="4572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中期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38328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 Neue"/>
              </a:rPr>
              <a:t>Q3-Q4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落地第二个 Vertical（客服 / 数据 任选）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14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Kernel 跨域通用性验证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38912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Agent 的灰度 / 回滚 / 版本管理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754880"/>
            <a:ext cx="914400" cy="457200"/>
          </a:xfrm>
          <a:prstGeom prst="roundRect">
            <a:avLst/>
          </a:prstGeom>
          <a:solidFill>
            <a:srgbClr val="F6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远期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80060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 Neue"/>
              </a:rPr>
              <a:t>1 年+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Supervisor 多 Agent 协同落地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53212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跨域请求自动拆解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8064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PingFang SC"/>
              </a:rPr>
              <a:t>▸ 统一人机交互与观测平台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Helvetica Neue"/>
              </a:rPr>
              <a:t>OpsAgent · Agent Kernel + Vertical Agent · 详细架构讲解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