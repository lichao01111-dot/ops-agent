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22e7961ebb4154" /><Relationship Type="http://schemas.openxmlformats.org/officeDocument/2006/relationships/extended-properties" Target="/docProps/app.xml" Id="R316dca171ec949bc" /><Relationship Type="http://schemas.openxmlformats.org/officeDocument/2006/relationships/officeDocument" Target="/ppt/presentation.xml" Id="R42a79276702243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fffcaecab0447f"/>
  </p:sldMasterIdLst>
  <p:notesMasterIdLst>
    <p:notesMasterId xmlns:r="http://schemas.openxmlformats.org/officeDocument/2006/relationships" r:id="R3dc05c22d5704778"/>
  </p:notesMasterIdLst>
  <p:sldIdLst>
    <p:sldId xmlns:r="http://schemas.openxmlformats.org/officeDocument/2006/relationships" id="256" r:id="R24f291f66d034196"/>
    <p:sldId xmlns:r="http://schemas.openxmlformats.org/officeDocument/2006/relationships" id="257" r:id="R5e0a154f3cf744ad"/>
    <p:sldId xmlns:r="http://schemas.openxmlformats.org/officeDocument/2006/relationships" id="258" r:id="R39abcc60bcb3459a"/>
    <p:sldId xmlns:r="http://schemas.openxmlformats.org/officeDocument/2006/relationships" id="259" r:id="R4ac2339c00c44351"/>
    <p:sldId xmlns:r="http://schemas.openxmlformats.org/officeDocument/2006/relationships" id="260" r:id="R8ef570e24d3c4ed0"/>
    <p:sldId xmlns:r="http://schemas.openxmlformats.org/officeDocument/2006/relationships" id="261" r:id="Rcba6981755934e3e"/>
    <p:sldId xmlns:r="http://schemas.openxmlformats.org/officeDocument/2006/relationships" id="262" r:id="Rdbb19d3c05214fb6"/>
    <p:sldId xmlns:r="http://schemas.openxmlformats.org/officeDocument/2006/relationships" id="263" r:id="R6449bc853de445fa"/>
    <p:sldId xmlns:r="http://schemas.openxmlformats.org/officeDocument/2006/relationships" id="264" r:id="R45a1ba389dac45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ffcaecab0447f" /><Relationship Type="http://schemas.openxmlformats.org/officeDocument/2006/relationships/theme" Target="/ppt/theme/theme1.xml" Id="R479f5d649a6b4ea3" /><Relationship Type="http://schemas.openxmlformats.org/officeDocument/2006/relationships/notesMaster" Target="/ppt/notesMasters/notesMaster1.xml" Id="R3dc05c22d5704778" /><Relationship Type="http://schemas.openxmlformats.org/officeDocument/2006/relationships/presProps" Target="/ppt/presProps.xml" Id="Re535344c8d6a4756" /><Relationship Type="http://schemas.openxmlformats.org/officeDocument/2006/relationships/viewProps" Target="/ppt/viewProps.xml" Id="R74d6db23a2b4467d" /><Relationship Type="http://schemas.openxmlformats.org/officeDocument/2006/relationships/tableStyles" Target="/ppt/tableStyles.xml" Id="R36713e622b2a4b3f" /><Relationship Type="http://schemas.openxmlformats.org/officeDocument/2006/relationships/slide" Target="/ppt/slides/slide1.xml" Id="R24f291f66d034196" /><Relationship Type="http://schemas.openxmlformats.org/officeDocument/2006/relationships/slide" Target="/ppt/slides/slide2.xml" Id="R5e0a154f3cf744ad" /><Relationship Type="http://schemas.openxmlformats.org/officeDocument/2006/relationships/slide" Target="/ppt/slides/slide3.xml" Id="R39abcc60bcb3459a" /><Relationship Type="http://schemas.openxmlformats.org/officeDocument/2006/relationships/slide" Target="/ppt/slides/slide4.xml" Id="R4ac2339c00c44351" /><Relationship Type="http://schemas.openxmlformats.org/officeDocument/2006/relationships/slide" Target="/ppt/slides/slide5.xml" Id="R8ef570e24d3c4ed0" /><Relationship Type="http://schemas.openxmlformats.org/officeDocument/2006/relationships/slide" Target="/ppt/slides/slide6.xml" Id="Rcba6981755934e3e" /><Relationship Type="http://schemas.openxmlformats.org/officeDocument/2006/relationships/slide" Target="/ppt/slides/slide7.xml" Id="Rdbb19d3c05214fb6" /><Relationship Type="http://schemas.openxmlformats.org/officeDocument/2006/relationships/slide" Target="/ppt/slides/slide8.xml" Id="R6449bc853de445fa" /><Relationship Type="http://schemas.openxmlformats.org/officeDocument/2006/relationships/slide" Target="/ppt/slides/slide9.xml" Id="R45a1ba389dac45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a89569805f94c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8c20ac083e4200" /><Relationship Type="http://schemas.openxmlformats.org/officeDocument/2006/relationships/notesMaster" Target="/ppt/notesMasters/notesMaster1.xml" Id="Rcab92e60219d47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8b8e81b0eb4bd2" /><Relationship Type="http://schemas.openxmlformats.org/officeDocument/2006/relationships/notesMaster" Target="/ppt/notesMasters/notesMaster1.xml" Id="Rb06bf313e79e40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50ee8bf2a9456d" /><Relationship Type="http://schemas.openxmlformats.org/officeDocument/2006/relationships/notesMaster" Target="/ppt/notesMasters/notesMaster1.xml" Id="R56fcd5fa1e0742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dd3290bc564c2d" /><Relationship Type="http://schemas.openxmlformats.org/officeDocument/2006/relationships/notesMaster" Target="/ppt/notesMasters/notesMaster1.xml" Id="R575ed81713e547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65d46b8f614581" /><Relationship Type="http://schemas.openxmlformats.org/officeDocument/2006/relationships/notesMaster" Target="/ppt/notesMasters/notesMaster1.xml" Id="Rac284842fcba4e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7c717d6f1646b8" /><Relationship Type="http://schemas.openxmlformats.org/officeDocument/2006/relationships/notesMaster" Target="/ppt/notesMasters/notesMaster1.xml" Id="Re1a5665bde7d48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5d8f353d4e4732" /><Relationship Type="http://schemas.openxmlformats.org/officeDocument/2006/relationships/notesMaster" Target="/ppt/notesMasters/notesMaster1.xml" Id="Rd89567d6a5954d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a9d1a1084c4b16" /><Relationship Type="http://schemas.openxmlformats.org/officeDocument/2006/relationships/notesMaster" Target="/ppt/notesMasters/notesMaster1.xml" Id="R819f91c5db6342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1aa9fbb17d4eb2" /><Relationship Type="http://schemas.openxmlformats.org/officeDocument/2006/relationships/notesMaster" Target="/ppt/notesMasters/notesMaster1.xml" Id="R8bffc977d9794a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这是面向更广泛听众的简版，不强调抽象契约，重点讲问题、分工、流程和价值。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/Users/lichao/Downloads/ops-agent/README.md</a:t>
            </a:r>
          </a:p>
          <a:p xmlns:a="http://schemas.openxmlformats.org/drawingml/2006/main">
            <a:r>
              <a:t>- /Users/lichao/Downloads/ops-agent/docs/architecture-v2.md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先让听众理解 Agent 不等于聊天机器人，而是会调用工具、做判断、执行动作的系统。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/Users/lichao/Downloads/ops-agent/README.md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只讲四个最容易理解的问题：太乱、太难管、太不安全、太难复用。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/Users/lichao/Downloads/ops-agent/docs/architecture-v2.md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这是全场最关键的一页，要让听众直接记住 Kernel 和 OpsAgent 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/Users/lichao/Downloads/ops-agent/docs/architecture-v2.md</a:t>
            </a:r>
          </a:p>
          <a:p xmlns:a="http://schemas.openxmlformats.org/drawingml/2006/main">
            <a:r>
              <a:t>- /Users/lichao/Downloads/ops-agent/README.md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尽量不用代码术语，用职责语言讲清楚。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/Users/lichao/Downloads/ops-agent/agent_ops/agent.py</a:t>
            </a:r>
          </a:p>
          <a:p xmlns:a="http://schemas.openxmlformats.org/drawingml/2006/main">
            <a:r>
              <a:t>- /Users/lichao/Downloads/ops-agent/agent_kernel/base_agent.py</a:t>
            </a:r>
          </a:p>
          <a:p xmlns:a="http://schemas.openxmlformats.org/drawingml/2006/main">
            <a:r>
              <a:t>- /Users/lichao/Downloads/ops-agent/agent_kernel/approval.py</a:t>
            </a:r>
          </a:p>
          <a:p xmlns:a="http://schemas.openxmlformats.org/drawingml/2006/main">
            <a:r>
              <a:t>- /Users/lichao/Downloads/ops-agent/agent_ops/memory_schema.py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6 个步骤讲清楚：拆分、执行、审批、记录、返回。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/Users/lichao/Downloads/ops-agent/agent_kernel/base_agent.py</a:t>
            </a:r>
          </a:p>
          <a:p xmlns:a="http://schemas.openxmlformats.org/drawingml/2006/main">
            <a:r>
              <a:t>- /Users/lichao/Downloads/ops-agent/agent_ops/agent.py</a:t>
            </a:r>
          </a:p>
          <a:p xmlns:a="http://schemas.openxmlformats.org/drawingml/2006/main">
            <a:r>
              <a:t>- /Users/lichao/Downloads/ops-agent/agent_ops/planner.py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这一页只讲普通人能立刻理解的安全点，不展开 receipt 字段和代码实现。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/Users/lichao/Downloads/ops-agent/agent_kernel/approval.py</a:t>
            </a:r>
          </a:p>
          <a:p xmlns:a="http://schemas.openxmlformats.org/drawingml/2006/main">
            <a:r>
              <a:t>- /Users/lichao/Downloads/ops-agent/README.md</a:t>
            </a:r>
          </a:p>
          <a:p xmlns:a="http://schemas.openxmlformats.org/drawingml/2006/main">
            <a:r>
              <a:t>- /Users/lichao/Downloads/ops-agent/docs/architecture-v2.md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用客服 Agent / 数据 Agent 举例，突出复用底座带来的价值。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/Users/lichao/Downloads/ops-agent/docs/architecture-v2.md</a:t>
            </a:r>
          </a:p>
          <a:p xmlns:a="http://schemas.openxmlformats.org/drawingml/2006/main">
            <a:r>
              <a:t>- /Users/lichao/Downloads/ops-agent/README.md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最后明确当前成熟度，避免听众误以为所有规划都已完成。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/Users/lichao/Downloads/ops-agent/README.md</a:t>
            </a:r>
          </a:p>
          <a:p xmlns:a="http://schemas.openxmlformats.org/drawingml/2006/main">
            <a:r>
              <a:t>- /Users/lichao/Downloads/ops-agent/tests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23aaa16a449a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286697A-D801-4453-8D1E-02837585C4B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77C0790-514F-4F3B-B1E5-B133D2600C3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B0B178-8EC0-47F0-B237-146DCB8E5AA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BBFB11-5B67-4218-AD9A-BC76CEFC9B1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9B3CFD-CC3D-4BD2-948A-6914212AE5D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28e4118facb4935" /><Relationship Type="http://schemas.openxmlformats.org/officeDocument/2006/relationships/slideLayout" Target="/ppt/slideLayouts/slideLayout2.xml" Id="Rbdaafda1e13141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B93346-656A-474B-B3D4-8B902388D43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afda1e13141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84fc1b39054a78" /><Relationship Type="http://schemas.openxmlformats.org/officeDocument/2006/relationships/notesSlide" Target="/ppt/notesSlides/notesSlide1.xml" Id="R26ab27330b8545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4e4d1fdefb4422" /><Relationship Type="http://schemas.openxmlformats.org/officeDocument/2006/relationships/notesSlide" Target="/ppt/notesSlides/notesSlide2.xml" Id="R5df37773805d46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cbac954e194a7b" /><Relationship Type="http://schemas.openxmlformats.org/officeDocument/2006/relationships/notesSlide" Target="/ppt/notesSlides/notesSlide3.xml" Id="R169f864ac04245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05112c772d47f2" /><Relationship Type="http://schemas.openxmlformats.org/officeDocument/2006/relationships/notesSlide" Target="/ppt/notesSlides/notesSlide4.xml" Id="Ra07db027cf5847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e8bfec2a294e15" /><Relationship Type="http://schemas.openxmlformats.org/officeDocument/2006/relationships/notesSlide" Target="/ppt/notesSlides/notesSlide5.xml" Id="Re78394065c3b4f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ab8e326034415a" /><Relationship Type="http://schemas.openxmlformats.org/officeDocument/2006/relationships/notesSlide" Target="/ppt/notesSlides/notesSlide6.xml" Id="Raf08ac64df1c4f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56802a9c644fdb" /><Relationship Type="http://schemas.openxmlformats.org/officeDocument/2006/relationships/notesSlide" Target="/ppt/notesSlides/notesSlide7.xml" Id="Rfa91293136314f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063a20893346af" /><Relationship Type="http://schemas.openxmlformats.org/officeDocument/2006/relationships/notesSlide" Target="/ppt/notesSlides/notesSlide8.xml" Id="Ra16f73384a904a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36ad4fb8974add" /><Relationship Type="http://schemas.openxmlformats.org/officeDocument/2006/relationships/notesSlide" Target="/ppt/notesSlides/notesSlide9.xml" Id="Ra1fd05c5ac0747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4F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9B3CFD-CC3D-4BD2-948A-6914212AE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41818-037F-49F7-87F5-D6E543E3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66675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703FA-5B6D-4627-9C25-445A0819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381000"/>
            <a:ext cx="2667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9480D-1E05-45BC-895A-E6F91893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4B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7F939-627A-4F19-8719-65640894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62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A0E77-5CD1-41A6-B06C-BC764A7B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066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OPSAGENT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2CD5F-0CF2-41EC-B6AF-58DBFD5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OpsAgent 架构说明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26EB3-223C-462E-AF22-A670C397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8F4"/>
                </a:solidFill>
              </a:defRPr>
            </a:pPr>
            <a:r>
              <a:rPr sz="1800" b="0">
                <a:solidFill>
                  <a:srgbClr val="D9E8F4"/>
                </a:solidFill>
              </a:rPr>
              <a:t>把这套 Agent 架构讲得更简单一点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0B004-3DCF-4C83-9EAA-6AE37247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8E5"/>
                </a:solidFill>
              </a:defRPr>
            </a:pPr>
            <a:r>
              <a:rPr sz="1350" b="0">
                <a:solidFill>
                  <a:srgbClr val="C9D8E5"/>
                </a:solidFill>
              </a:rPr>
              <a:t>这次不重点讲抽象名词，而是只讲 4 件事：为什么拆层、各自做什么、请求怎么跑、这样有什么好处。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122F5-A7DB-44CD-950E-944A232A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286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8902B-7EBB-4EB2-8E13-D11D1ECA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4D39C-C5DF-4894-BFCB-7C9D0A33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你听完应该记住的 3 句话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783A6-46D3-4CF6-A7BA-31843705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334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1. 以前一个 Agent 太乱。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2. 现在拆成通用底座 + 运维能力。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3. 这样以后更容易做更多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B4F8E-63CE-412E-9791-BF3F2D89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04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5F66F-CFDD-489D-9BDA-AC6F0D95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39A6C-4211-46C9-BAC0-D4022986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一句话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41853-64E4-4027-A870-A7EB1206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28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不是在造一个 AI，而是在造一套可以反复复用的 Agent 底座。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0A7F4-01CD-4CAE-B20A-47D9172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04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BB7C2-FA0C-4BCC-850F-059874A3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C8EF7-48ED-4954-8E4E-E564730E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今天重点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C7376-1ECA-4462-9602-DBEB99E9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0400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28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问题、分工、流程、安全、扩展性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C72B2-8F51-44CA-B8B5-0FFD256D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304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516BE-3CAE-4795-A826-A7ED274C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4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D9B59-F4CE-4885-8845-E4BDB67F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当前状态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E96D3-0048-4FEE-BCDE-0E8AF5F6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28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已经能跑，但仍是 PoC /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41DDB-059D-4649-B300-1CB23786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198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D8E5"/>
                </a:solidFill>
              </a:defRPr>
            </a:pPr>
            <a:r>
              <a:rPr sz="750" b="0">
                <a:solidFill>
                  <a:srgbClr val="C9D8E5"/>
                </a:solidFill>
              </a:rPr>
              <a:t>2026 · 简版汇报</a:t>
            </a:r>
          </a:p>
        </p:txBody>
      </p:sp>
    </p:spTree>
    <p:extLst>
      <p:ext uri="{BB962C8B-B14F-4D97-AF65-F5344CB8AC3E}">
        <p14:creationId xmlns:p14="http://schemas.microsoft.com/office/powerpoint/2010/main" val="2113941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9B3CFD-CC3D-4BD2-948A-6914212AE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930D4-B952-4B68-B3A2-C821F2FD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66675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3ED75-4A22-48FB-B72A-29454197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381000"/>
            <a:ext cx="2667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7981D-AF0D-4CF1-B781-99D31086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8BF33-1E27-4B61-930C-2C8324FA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C66"/>
                </a:solidFill>
              </a:defRPr>
            </a:pPr>
            <a:r>
              <a:rPr sz="900" b="1">
                <a:solidFill>
                  <a:srgbClr val="127C66"/>
                </a:solidFill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BFC4A-1BFF-4D51-B24D-FCA06E0C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7C82"/>
                </a:solidFill>
              </a:defRPr>
            </a:pPr>
            <a:r>
              <a:rPr sz="900" b="1">
                <a:solidFill>
                  <a:srgbClr val="727C82"/>
                </a:solidFill>
              </a:rPr>
              <a:t>02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81247-B494-4141-BE4A-A8460ED2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08A0D-1DE3-4687-9C98-B737131A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22D"/>
                </a:solidFill>
              </a:defRPr>
            </a:pPr>
            <a:r>
              <a:rPr sz="2250" b="1">
                <a:solidFill>
                  <a:srgbClr val="18222D"/>
                </a:solidFill>
              </a:rPr>
              <a:t>我们到底在解决什么问题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0D3B8-813E-4A83-8C04-7AC7448C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F4A53"/>
                </a:solidFill>
              </a:defRPr>
            </a:pPr>
            <a:r>
              <a:rPr sz="1125" b="0">
                <a:solidFill>
                  <a:srgbClr val="3F4A53"/>
                </a:solidFill>
              </a:rPr>
              <a:t>不是“做一个 AI”这么简单，而是要让它真的能帮人做事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37E54-E302-4893-BFB6-A1FA947D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27C82"/>
                </a:solidFill>
              </a:defRPr>
            </a:pPr>
            <a:r>
              <a:rPr sz="675" b="0">
                <a:solidFill>
                  <a:srgbClr val="727C82"/>
                </a:solidFill>
              </a:rPr>
              <a:t>OpsAgent · 简版架构说明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9AD2C-A365-4508-8B47-30FF7EA4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5E0DC-8487-4845-9C05-B961CC3D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F0065-B732-4BD1-AFDD-5AE36928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普通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7859D-BA2B-40AC-925D-03C027A7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29908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你问：测试环境 MySQL 地址是什么？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它告诉你：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“你可以去文档里查，或者问 DBA。”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也就是：告诉你怎么做。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BBC07-B7FF-430C-BD4E-053A4176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3B5FC-2B10-4370-B07C-EA7D694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D1B5F-6B89-4EE6-B2F7-CFC7F297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FD389-39B5-404C-92D8-C2A95592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5100"/>
            <a:ext cx="29908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你问：测试环境 MySQL 地址是什么？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它自己去查知识库、拿结果、整理后返回。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也就是：直接帮你做。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DB6E2-2557-4E50-AC1E-0338AEE6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E8CC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C2CBC-4961-487D-B825-C4954A96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FFEC3-8629-4B2A-833D-0FD84275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所以难点不在聊天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8811B-AA4D-4FDC-8AD3-056FF86A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29908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真正难的是：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1. 会不会选对工具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2. 会不会做对判断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3. 高风险动作能不能被管住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BDE5F-87C0-4699-A475-AEBF1A55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1057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4F7A"/>
                </a:solidFill>
              </a:defRPr>
            </a:pPr>
            <a:r>
              <a:rPr sz="1350" b="1">
                <a:solidFill>
                  <a:srgbClr val="1E4F7A"/>
                </a:solidFill>
              </a:rPr>
              <a:t>我们做这套架构，不是为了让 AI 更会说，而是为了让它在真实系统里“可用、可控、可追踪”。</a:t>
            </a:r>
          </a:p>
        </p:txBody>
      </p:sp>
    </p:spTree>
    <p:extLst>
      <p:ext uri="{BB962C8B-B14F-4D97-AF65-F5344CB8AC3E}">
        <p14:creationId xmlns:p14="http://schemas.microsoft.com/office/powerpoint/2010/main" val="7457289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9B3CFD-CC3D-4BD2-948A-6914212AE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9A9EB-0654-4DAA-8204-33B2E109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66675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7F4F9-E655-4735-969E-DDC63981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381000"/>
            <a:ext cx="2667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2CBBF-60F7-48EA-887D-DEC82A50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D2EF9-283C-4A6B-985C-9189E25A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C66"/>
                </a:solidFill>
              </a:defRPr>
            </a:pPr>
            <a:r>
              <a:rPr sz="900" b="1">
                <a:solidFill>
                  <a:srgbClr val="127C66"/>
                </a:solidFill>
              </a:rPr>
              <a:t>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DAE04-CE89-47E2-93D2-F593C23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7C82"/>
                </a:solidFill>
              </a:defRPr>
            </a:pPr>
            <a:r>
              <a:rPr sz="900" b="1">
                <a:solidFill>
                  <a:srgbClr val="727C82"/>
                </a:solidFill>
              </a:rPr>
              <a:t>03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1C9CE-76EC-4808-817A-0B5EF161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33E6D-04B2-40D9-BB07-94CB4EB4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22D"/>
                </a:solidFill>
              </a:defRPr>
            </a:pPr>
            <a:r>
              <a:rPr sz="2250" b="1">
                <a:solidFill>
                  <a:srgbClr val="18222D"/>
                </a:solidFill>
              </a:rPr>
              <a:t>旧方案为什么会越来越乱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70C46-67E2-4E8A-B8D3-41260147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F4A53"/>
                </a:solidFill>
              </a:defRPr>
            </a:pPr>
            <a:r>
              <a:rPr sz="1125" b="0">
                <a:solidFill>
                  <a:srgbClr val="3F4A53"/>
                </a:solidFill>
              </a:rPr>
              <a:t>所有能力塞进一个 Agent，看起来简单，实际越来越难维护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52E5B-83D9-4B3B-AAFF-E4E7E262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27C82"/>
                </a:solidFill>
              </a:defRPr>
            </a:pPr>
            <a:r>
              <a:rPr sz="675" b="0">
                <a:solidFill>
                  <a:srgbClr val="727C82"/>
                </a:solidFill>
              </a:rPr>
              <a:t>OpsAgent · 简版架构说明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C0C74-1218-4CAD-B61A-C58AA784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E4DE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01F38-AF73-49A6-90E3-F42181D4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4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70C88-4F72-47C7-B0F6-7870BFD1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越来越乱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CB409-DFB9-40FB-B2CA-830817DD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K8s、Jenkins、日志、知识库、审批规则全塞一个地方。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15805-4253-408A-BFBC-AC83FE84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8CC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F787B-BC63-4130-AC6C-3EF659DD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8C68E-E8EC-4798-92F7-8ADA3817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越来越难改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B23B1-B6C7-4C3E-A194-F1A622CF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每加一个新场景，都要重新碰路由、工具和安全逻辑。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84C3E-1592-4B87-9E9E-89469DC7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D9A9A-2724-400B-B317-FA2D51A3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45F3A-73E5-4581-9E25-2D1CC6A6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越来越不安全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8567C-87EC-4CE4-8155-AF52DB96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查询和重启、发布这种高风险动作混在一起，边界容易漏。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A5E17-972E-4056-802C-5E59922E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EEBF78-C625-4560-8D0A-4DA1128F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907D06-28EE-4F67-BEE0-E6F88048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越来越难复用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F4844B-2DEF-4862-882D-27267119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051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以后做客服 Agent、数据 Agent，很多东西还得重写。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CDB9E-9AB8-4E27-8B22-9A316536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71950"/>
            <a:ext cx="8686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87F6AA-035D-4D7F-A09D-45351727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7195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E1BF9E-CFAE-48F6-ADF0-46E61DD9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43400"/>
            <a:ext cx="836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旧方案的问题，不是“能力不够多”，而是“所有东西搅在一起”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44992D-FD1D-4CB2-A9D2-60C71504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62500"/>
            <a:ext cx="8343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所以这不是继续补几个工具、补几个 prompt 能解决的事，而是必须重新划分系统边界。</a:t>
            </a:r>
          </a:p>
        </p:txBody>
      </p:sp>
    </p:spTree>
    <p:extLst>
      <p:ext uri="{BB962C8B-B14F-4D97-AF65-F5344CB8AC3E}">
        <p14:creationId xmlns:p14="http://schemas.microsoft.com/office/powerpoint/2010/main" val="1984970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9B3CFD-CC3D-4BD2-948A-6914212AE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A148A-1962-4BCB-8BBE-0E792AF0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66675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08980-0BD0-4C8F-9A83-908BDDD3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381000"/>
            <a:ext cx="2667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D5455-462A-4488-AD5E-FD4C942F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97183-0031-423E-918A-A22B6C03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C66"/>
                </a:solidFill>
              </a:defRPr>
            </a:pPr>
            <a:r>
              <a:rPr sz="900" b="1">
                <a:solidFill>
                  <a:srgbClr val="127C66"/>
                </a:solidFill>
              </a:rPr>
              <a:t>NEW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CCAF0-622F-4A24-A174-006B0C01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7C82"/>
                </a:solidFill>
              </a:defRPr>
            </a:pPr>
            <a:r>
              <a:rPr sz="900" b="1">
                <a:solidFill>
                  <a:srgbClr val="727C82"/>
                </a:solidFill>
              </a:rPr>
              <a:t>04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BE83F-9AB2-4240-818E-7ACE2838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DB300-4778-4682-AEA5-FFBC226D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22D"/>
                </a:solidFill>
              </a:defRPr>
            </a:pPr>
            <a:r>
              <a:rPr sz="2250" b="1">
                <a:solidFill>
                  <a:srgbClr val="18222D"/>
                </a:solidFill>
              </a:rPr>
              <a:t>新架构一句话说明白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00356-ACDD-4BCE-9751-F1FDC785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F4A53"/>
                </a:solidFill>
              </a:defRPr>
            </a:pPr>
            <a:r>
              <a:rPr sz="1125" b="0">
                <a:solidFill>
                  <a:srgbClr val="3F4A53"/>
                </a:solidFill>
              </a:rPr>
              <a:t>把“通用底座”和“运维能力”彻底拆开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EFE99-F60A-4499-BB50-5BFAE0D9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27C82"/>
                </a:solidFill>
              </a:defRPr>
            </a:pPr>
            <a:r>
              <a:rPr sz="675" b="0">
                <a:solidFill>
                  <a:srgbClr val="727C82"/>
                </a:solidFill>
              </a:rPr>
              <a:t>OpsAgent · 简版架构说明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B9F0F-8B7C-4692-9046-3A4A8A1D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3810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3600C-9342-461F-9A69-FAB6650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C0EAC-500E-4878-9D38-71E6E7DA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Kernel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9BCA4-D611-4A84-A561-DFE0C7F3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3467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通用底座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负责：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请求流程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工具调用入口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审批门禁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审计记录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会话和记忆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1A983-BB56-4B68-BA93-B2FB7C14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52800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D891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46347-4AF9-4228-9CEE-3AA83B0F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3810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CACA5-3A12-42F1-9895-63CC5A6C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1EB90-DB3C-4441-A594-CD2CEB9B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OpsAgent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F8CE5-9A39-44BE-9788-D6150A41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3467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运维能力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负责：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运维知识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运维工具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运维判断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风险规则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运维专属记忆语义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6270C-4243-4036-B7DC-0B20CD3F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22D"/>
                </a:solidFill>
              </a:defRPr>
            </a:pPr>
            <a:r>
              <a:rPr sz="1800" b="1">
                <a:solidFill>
                  <a:srgbClr val="18222D"/>
                </a:solidFill>
              </a:rPr>
              <a:t>一句话：骨架只写一次，业务按领域分别填写。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90BF0-2928-4C84-BACF-89B8612E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769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F4A53"/>
                </a:solidFill>
              </a:defRPr>
            </a:pPr>
            <a:r>
              <a:rPr sz="1275" b="0">
                <a:solidFill>
                  <a:srgbClr val="3F4A53"/>
                </a:solidFill>
              </a:rPr>
              <a:t>以后再做客服 Agent、数据 Agent，只需要换右边这部分，不需要重做左边的底座。</a:t>
            </a:r>
          </a:p>
        </p:txBody>
      </p:sp>
    </p:spTree>
    <p:extLst>
      <p:ext uri="{BB962C8B-B14F-4D97-AF65-F5344CB8AC3E}">
        <p14:creationId xmlns:p14="http://schemas.microsoft.com/office/powerpoint/2010/main" val="6993325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9B3CFD-CC3D-4BD2-948A-6914212AE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A63F9-27CF-473C-9166-5B53E2C9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66675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52D71-6EE3-42DC-B819-F1E80187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381000"/>
            <a:ext cx="2667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915E4-CE38-43D0-81F4-B32879A0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A3E06-F6D4-4016-865F-0BC3DC6D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C66"/>
                </a:solidFill>
              </a:defRPr>
            </a:pPr>
            <a:r>
              <a:rPr sz="900" b="1">
                <a:solidFill>
                  <a:srgbClr val="127C66"/>
                </a:solidFill>
              </a:rPr>
              <a:t>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79942-D6B3-431C-943C-AE3A45C3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7C82"/>
                </a:solidFill>
              </a:defRPr>
            </a:pPr>
            <a:r>
              <a:rPr sz="900" b="1">
                <a:solidFill>
                  <a:srgbClr val="727C82"/>
                </a:solidFill>
              </a:rPr>
              <a:t>05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A8252-BA9C-452F-B1E7-071875A6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948D7-BBFA-4D17-89F0-BE101F6E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22D"/>
                </a:solidFill>
              </a:defRPr>
            </a:pPr>
            <a:r>
              <a:rPr sz="2250" b="1">
                <a:solidFill>
                  <a:srgbClr val="18222D"/>
                </a:solidFill>
              </a:rPr>
              <a:t>Kernel 和 OpsAgent 各自负责什么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A52FF-CD19-4BDE-84FE-44DFF377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F4A53"/>
                </a:solidFill>
              </a:defRPr>
            </a:pPr>
            <a:r>
              <a:rPr sz="1125" b="0">
                <a:solidFill>
                  <a:srgbClr val="3F4A53"/>
                </a:solidFill>
              </a:rPr>
              <a:t>一个负责通用流程和安全，一个负责运维能力本身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FF41A-8E2E-4FE1-B67A-B1244DEE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27C82"/>
                </a:solidFill>
              </a:defRPr>
            </a:pPr>
            <a:r>
              <a:rPr sz="675" b="0">
                <a:solidFill>
                  <a:srgbClr val="727C82"/>
                </a:solidFill>
              </a:rPr>
              <a:t>OpsAgent · 简版架构说明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24A5D-42DA-4533-B074-2F1672C6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CEBFB-9993-4CDE-A339-F8CC6C65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E22E7-C4E7-4A45-A199-15AAB3D8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Kernel 负责什么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B101D-5D99-40A8-9CDF-1003B388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4610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像“公司公共平台”一样，负责所有 Agent 都需要的东西：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把请求拆成步骤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决定下一步该做什么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统一调用工具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危险动作先审批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把过程全部记下来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保存上下文，方便下一个步骤接着做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B13BF-5D17-44FF-9C5A-BBFC9F1C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39A29-F131-46C4-BEE7-E7201564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416D5-1225-4E0D-84DF-F97E4939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0505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OpsAgent 负责什么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986F3-E913-4D99-9243-7BD6ACBE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4610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像“运维团队”一样，负责真正的业务能力：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知道 pod、namespace、Jenkins、日志这些概念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知道什么时候是查询、什么时候是诊断、什么时候是变更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知道运维场景下哪些动作要审批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知道运维场景里的记忆该怎么组织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AAA46-6514-42B6-99A8-1E4AF03D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4F7A"/>
                </a:solidFill>
              </a:defRPr>
            </a:pPr>
            <a:r>
              <a:rPr sz="1275" b="1">
                <a:solidFill>
                  <a:srgbClr val="1E4F7A"/>
                </a:solidFill>
              </a:rPr>
              <a:t>这样分工以后，Kernel 不需要懂“运维词汇”，OpsAgent 也不需要自己重写一套审批和审计。</a:t>
            </a:r>
          </a:p>
        </p:txBody>
      </p:sp>
    </p:spTree>
    <p:extLst>
      <p:ext uri="{BB962C8B-B14F-4D97-AF65-F5344CB8AC3E}">
        <p14:creationId xmlns:p14="http://schemas.microsoft.com/office/powerpoint/2010/main" val="235728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9B3CFD-CC3D-4BD2-948A-6914212AE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705F9-180F-4D35-8078-5374F4F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66675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89BFA-F7B3-4DEF-9832-9C479AF2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381000"/>
            <a:ext cx="2667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DB0D0-69CA-46DE-B574-109A2834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1BD47-6E8E-4068-AAE0-43723940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C66"/>
                </a:solidFill>
              </a:defRPr>
            </a:pPr>
            <a:r>
              <a:rPr sz="900" b="1">
                <a:solidFill>
                  <a:srgbClr val="127C66"/>
                </a:solidFill>
              </a:rPr>
              <a:t>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AF9E2-F988-4810-BA03-D4771353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7C82"/>
                </a:solidFill>
              </a:defRPr>
            </a:pPr>
            <a:r>
              <a:rPr sz="900" b="1">
                <a:solidFill>
                  <a:srgbClr val="727C82"/>
                </a:solidFill>
              </a:rPr>
              <a:t>06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07F37-D9EB-423D-BFB2-AF924731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C6C07-C257-49D7-A0EC-087ACE35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22D"/>
                </a:solidFill>
              </a:defRPr>
            </a:pPr>
            <a:r>
              <a:rPr sz="2250" b="1">
                <a:solidFill>
                  <a:srgbClr val="18222D"/>
                </a:solidFill>
              </a:rPr>
              <a:t>一次请求是怎么跑完整个系统的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43EE8-A49E-4CC8-BD44-385B1EC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F4A53"/>
                </a:solidFill>
              </a:defRPr>
            </a:pPr>
            <a:r>
              <a:rPr sz="1125" b="0">
                <a:solidFill>
                  <a:srgbClr val="3F4A53"/>
                </a:solidFill>
              </a:rPr>
              <a:t>以“查一下 pod，然后重启服务”为例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5D1B3-8A39-4D75-A751-5553816D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27C82"/>
                </a:solidFill>
              </a:defRPr>
            </a:pPr>
            <a:r>
              <a:rPr sz="675" b="0">
                <a:solidFill>
                  <a:srgbClr val="727C82"/>
                </a:solidFill>
              </a:rPr>
              <a:t>OpsAgent · 简版架构说明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07AA3-440C-4501-90FD-40882177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FC78F-C7A8-44DC-8880-885D7E8B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3A1F3-EF06-41E2-8273-2B9A30E1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1. 用户提请求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CCBC1-8432-4282-9EB6-02D8802F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“先查一下 staging pod，再帮我重启 order-service”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6BDEA-593D-49AA-83B2-5A30AA18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1466D-6940-42F0-A50E-34B08DDD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801C0-9F31-484A-A9F3-61D6D450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812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2. 系统先拆步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B8CAE-B8EC-4458-96C0-141133D6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识别出这是两件事：先查，再重启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0DBFF-D468-40DF-AAD7-F104B983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FE3C1-E9EF-47BF-A3ED-C2380B40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39A3F-8EAC-4B2A-B84B-2B567134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3. 先做低风险查询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85E4A-AD7B-44D1-963A-DFE4977F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直接查 pod 状态，不需要审批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8EFBE-CE3F-4802-B84A-EA7DBFC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52CEC-6CA9-4FFC-8844-CF1C58D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4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3AA17A-BDAD-4BC4-8BFE-1FB68E59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4. 再处理高风险动作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5095E9-D895-41FA-8057-A68CC639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03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重启服务前先停下来等审批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967ADF-E6B5-4573-9765-4F93CF8D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AC2AD2-A413-4E5F-8E38-F4131F30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04DDB5-A0A4-4E9D-B7EA-6FE92BF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720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5. 审批通过再执行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A23E8B-E9E0-481A-AC78-8A975558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9110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拿到批准后，才真正调用变更工具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77341C-E943-47B3-BA35-87A9A1CA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005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7A3989-6928-4DDB-A7A1-42E3CB55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00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A78A7B-BF72-454C-A65C-4656BB24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720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6. 全过程都留痕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DDF5E0-8A8C-4F7F-98E0-43EA8A84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9110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做了什么、谁批的、结果怎样，都会被记录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37772F-9A7E-4D3D-9858-2D311BBF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38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7C66"/>
          </a:solidFill>
          <a:ln xmlns:a="http://schemas.openxmlformats.org/drawingml/2006/main" w="0">
            <a:solidFill>
              <a:srgbClr val="127C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EFBCB3-2DA2-41F0-96D3-EF27125D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38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D8912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200C27-CE1E-414E-B711-345FBBE8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1E4F7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91E3D3-F07A-46CA-B2D8-7C90B357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53000"/>
            <a:ext cx="1143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D8912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8ECD75-6EA0-40B5-AB58-D240348B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53150"/>
            <a:ext cx="1057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4F7A"/>
                </a:solidFill>
              </a:defRPr>
            </a:pPr>
            <a:r>
              <a:rPr sz="1275" b="1">
                <a:solidFill>
                  <a:srgbClr val="1E4F7A"/>
                </a:solidFill>
              </a:rPr>
              <a:t>重点不是“AI 自己想了很多”，而是“系统把每一步该怎么做、什么时候该停、什么时候能执行”都安排好了。</a:t>
            </a:r>
          </a:p>
        </p:txBody>
      </p:sp>
    </p:spTree>
    <p:extLst>
      <p:ext uri="{BB962C8B-B14F-4D97-AF65-F5344CB8AC3E}">
        <p14:creationId xmlns:p14="http://schemas.microsoft.com/office/powerpoint/2010/main" val="526816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9B3CFD-CC3D-4BD2-948A-6914212AE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C9705-2641-4D3C-A37C-0120C60D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66675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17A4D-9644-48D2-9DA8-9660300F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381000"/>
            <a:ext cx="2667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B75C8-764B-4AB1-8455-87E9107B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34B02-B207-4769-B1D2-AEEB62CC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C66"/>
                </a:solidFill>
              </a:defRPr>
            </a:pPr>
            <a:r>
              <a:rPr sz="900" b="1">
                <a:solidFill>
                  <a:srgbClr val="127C66"/>
                </a:solidFill>
              </a:rPr>
              <a:t>SAFE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C099F-3377-4ABB-BE4A-B82B0462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7C82"/>
                </a:solidFill>
              </a:defRPr>
            </a:pPr>
            <a:r>
              <a:rPr sz="900" b="1">
                <a:solidFill>
                  <a:srgbClr val="727C82"/>
                </a:solidFill>
              </a:rPr>
              <a:t>07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1CC2F-2AB9-44A0-8420-EA5D60C2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61DDD-DCFD-4E8B-98DC-ACA90D92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22D"/>
                </a:solidFill>
              </a:defRPr>
            </a:pPr>
            <a:r>
              <a:rPr sz="2250" b="1">
                <a:solidFill>
                  <a:srgbClr val="18222D"/>
                </a:solidFill>
              </a:rPr>
              <a:t>为什么这套方案更安全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06692-42E3-4DE3-9636-2690B13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F4A53"/>
                </a:solidFill>
              </a:defRPr>
            </a:pPr>
            <a:r>
              <a:rPr sz="1125" b="0">
                <a:solidFill>
                  <a:srgbClr val="3F4A53"/>
                </a:solidFill>
              </a:rPr>
              <a:t>高风险动作不会直接放给 AI 自己做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965CE-8B1B-4272-89E1-AACF122E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27C82"/>
                </a:solidFill>
              </a:defRPr>
            </a:pPr>
            <a:r>
              <a:rPr sz="675" b="0">
                <a:solidFill>
                  <a:srgbClr val="727C82"/>
                </a:solidFill>
              </a:rPr>
              <a:t>OpsAgent · 简版架构说明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1FBC7-F664-42AB-92B0-F155D03F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E4DE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6A4B0-4537-4229-849E-735B181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4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F7032-1AD2-425D-9F29-C0E0A2F3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危险动作先审批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CD7C7-34FF-42C8-A2CE-69DB6C76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038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重启、删除、发布这类动作，不会直接执行。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5768D-AFFC-4EE7-81C8-193E2E8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E474B-A662-4E27-849E-CB30B7E7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6B66D-EED0-4D29-A71B-0D605102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所有动作都记录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EFBC1-58F1-4A40-A876-26050AB4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2038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谁做的、什么时候做的、结果怎样，都能回查。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0AD18-2D45-4E26-8EEE-9AB1207B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E8CC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D6E59-B9CA-41BF-8470-77CC4486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16FAF3-6E8F-40A6-9A4A-CBCDE4DD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不会无限乱跑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1CA7A6-7CD1-48BE-9A5B-DABFBD9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038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系统会限制步骤数，不让 AI 一直试下去。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B1713F-649E-461E-B144-BDD91579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17E08-2655-4DD1-93AE-1DCC3E5A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94681-F699-40CE-AC54-68410360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05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一步失败就先停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5A9FF-E700-4BE4-9596-CAACB548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038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避免前面出错了，后面还继续做出更大问题。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061BD-C45A-4315-A24C-33C02542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2D"/>
                </a:solidFill>
              </a:defRPr>
            </a:pPr>
            <a:r>
              <a:rPr sz="1350" b="1">
                <a:solidFill>
                  <a:srgbClr val="18222D"/>
                </a:solidFill>
              </a:rPr>
              <a:t>所以这套方案安全，不是因为“相信 AI”，而是因为 AI 被放进了一个有门禁、有刹车、有记录的系统里。</a:t>
            </a:r>
          </a:p>
        </p:txBody>
      </p:sp>
    </p:spTree>
    <p:extLst>
      <p:ext uri="{BB962C8B-B14F-4D97-AF65-F5344CB8AC3E}">
        <p14:creationId xmlns:p14="http://schemas.microsoft.com/office/powerpoint/2010/main" val="17538861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9B3CFD-CC3D-4BD2-948A-6914212AE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A0CDE-3B02-4793-8D57-A9FC2619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66675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1CD18-8824-4899-9BF4-160D2E62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381000"/>
            <a:ext cx="2667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FD1BE-06A0-4276-8A9B-18D1FABF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72C0B-533C-4D2F-B637-C4A8A8B2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C66"/>
                </a:solidFill>
              </a:defRPr>
            </a:pPr>
            <a:r>
              <a:rPr sz="900" b="1">
                <a:solidFill>
                  <a:srgbClr val="127C66"/>
                </a:solidFill>
              </a:rPr>
              <a:t>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60BD4-C089-4F7A-89BA-357377DD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7C82"/>
                </a:solidFill>
              </a:defRPr>
            </a:pPr>
            <a:r>
              <a:rPr sz="900" b="1">
                <a:solidFill>
                  <a:srgbClr val="727C82"/>
                </a:solidFill>
              </a:rPr>
              <a:t>08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0731B-84CC-443C-AA44-9F34BE4F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17E08-B34F-4A5B-8646-E30D0DBC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22D"/>
                </a:solidFill>
              </a:defRPr>
            </a:pPr>
            <a:r>
              <a:rPr sz="2250" b="1">
                <a:solidFill>
                  <a:srgbClr val="18222D"/>
                </a:solidFill>
              </a:rPr>
              <a:t>为什么以后更容易扩展成更多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4040A-3A31-4875-8D55-6E5792EE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F4A53"/>
                </a:solidFill>
              </a:defRPr>
            </a:pPr>
            <a:r>
              <a:rPr sz="1125" b="0">
                <a:solidFill>
                  <a:srgbClr val="3F4A53"/>
                </a:solidFill>
              </a:rPr>
              <a:t>做第二个、第三个 Agent，不需要从头再造一套底座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AC63E-2C6A-4F65-A141-B9A69B28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27C82"/>
                </a:solidFill>
              </a:defRPr>
            </a:pPr>
            <a:r>
              <a:rPr sz="675" b="0">
                <a:solidFill>
                  <a:srgbClr val="727C82"/>
                </a:solidFill>
              </a:rPr>
              <a:t>OpsAgent · 简版架构说明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E3A71-88DF-4E48-95FA-1365004A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3238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C5CB3-D9E8-4A38-8833-F9FC5693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5D73F-431C-4327-9DB6-2E1BF36F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今天已经有的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36190-6005-4A2D-A748-54325863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8956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OpsAgent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已经把运维工具、运维流程、运维审批规则填进去了。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728EE-E8B8-4D69-BA0A-F8D410BC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38500"/>
            <a:ext cx="857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D891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31824-0177-40D9-A7B7-C7BBA916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33600"/>
            <a:ext cx="3238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EC68D-4DA9-4647-A8F7-CAC0E229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3360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4877E-56A5-4661-85E8-DEC46090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未来还能做的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6E573-53B0-4C6A-A620-72E706A6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28956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CsmAgent / DataAgent / DocAgent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只需要换业务能力，不需要重写整套底座。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8F73C-04E3-41F8-9F0B-A9FBD057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38500"/>
            <a:ext cx="857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D891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624DC-D284-464C-A8E6-55BACBAF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33600"/>
            <a:ext cx="1428750" cy="2667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E8CC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5BF7B-A731-427A-ADF9-0348E3C7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3360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2604E-CAAD-48A5-95F6-2A631B6C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050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8FBFE-232A-4253-855B-E0B64B71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24150"/>
            <a:ext cx="1085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新 Agent 上线会更快，安全能力也能一起复用。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B52B1-64CB-410A-9C48-CFB71876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7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2D"/>
                </a:solidFill>
              </a:defRPr>
            </a:pPr>
            <a:r>
              <a:rPr sz="1350" b="1">
                <a:solidFill>
                  <a:srgbClr val="18222D"/>
                </a:solidFill>
              </a:rPr>
              <a:t>这就是为什么我们说：OpsAgent 不是终点，它更像是第一个样板，目的是验证这套 Agent 底座值不值得长期投入。</a:t>
            </a:r>
          </a:p>
        </p:txBody>
      </p:sp>
    </p:spTree>
    <p:extLst>
      <p:ext uri="{BB962C8B-B14F-4D97-AF65-F5344CB8AC3E}">
        <p14:creationId xmlns:p14="http://schemas.microsoft.com/office/powerpoint/2010/main" val="1624079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9B3CFD-CC3D-4BD2-948A-6914212AE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74451-6DAD-4BBD-A6DC-F596121E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66675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2E05B-D3D0-46D4-9551-2168F1E9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381000"/>
            <a:ext cx="2667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165E8-CF12-4D26-ADFA-1784B259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80506-0CAC-4459-AFB7-08D37F99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7C66"/>
                </a:solidFill>
              </a:defRPr>
            </a:pPr>
            <a:r>
              <a:rPr sz="900" b="1">
                <a:solidFill>
                  <a:srgbClr val="127C66"/>
                </a:solidFill>
              </a:rPr>
              <a:t>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20B22-2AB6-44C4-A05D-CFCA9ABC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7C82"/>
                </a:solidFill>
              </a:defRPr>
            </a:pPr>
            <a:r>
              <a:rPr sz="900" b="1">
                <a:solidFill>
                  <a:srgbClr val="727C82"/>
                </a:solidFill>
              </a:rPr>
              <a:t>09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95BCA-D1E7-406B-A43A-EAD00914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4C3CD-FBAA-47D9-9C8A-872C2940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22D"/>
                </a:solidFill>
              </a:defRPr>
            </a:pPr>
            <a:r>
              <a:rPr sz="2250" b="1">
                <a:solidFill>
                  <a:srgbClr val="18222D"/>
                </a:solidFill>
              </a:rPr>
              <a:t>现在已经做到哪一步了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C2A71-650B-4598-AA92-3C94B2B7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F4A53"/>
                </a:solidFill>
              </a:defRPr>
            </a:pPr>
            <a:r>
              <a:rPr sz="1125" b="0">
                <a:solidFill>
                  <a:srgbClr val="3F4A53"/>
                </a:solidFill>
              </a:rPr>
              <a:t>这套架构已经能跑，但仍然是 PoC /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CF11F-A790-43B1-805A-3AE73D54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5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27C82"/>
                </a:solidFill>
              </a:defRPr>
            </a:pPr>
            <a:r>
              <a:rPr sz="675" b="0">
                <a:solidFill>
                  <a:srgbClr val="727C82"/>
                </a:solidFill>
              </a:rPr>
              <a:t>OpsAgent · 简版架构说明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E7570-8611-49A5-8178-8BD6B9B0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1404A-0493-4B9F-B5AB-DE05893A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D2D34-D37D-4035-824D-410AFA69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已经有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53DB3-A669-4C56-B64A-2F2D4BFA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895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4 类能力：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knowledge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read_only_ops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diagnosis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- mutation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还有 shared memory、审批骨架和 SSE 流式输出。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CA293-F638-46A0-A1AD-6736BAE8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E8CC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3708C-E510-42DC-9332-E1FF6C92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B057F-EC3D-43C2-AE41-AB02E84C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还在补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CD44E-9C9C-4A93-A549-8D2F2528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895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Redis / DB 持久化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更完整的审批状态机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真正的写操作工具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更成熟的接入层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B7BB8-C7F1-4E11-BE4F-27BF939E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11430">
            <a:solidFill>
              <a:srgbClr val="C8C9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BA6A7-250D-47C4-826F-0B43F710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82851-9481-41F9-BA6C-A32622F6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成熟度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4E0AF-08F3-485A-A1AA-985E2DEA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895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当前已经有 84 个自动化测试。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但定位依然很明确：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可运行的 PoC / MVP，</a:t>
            </a:r>
          </a:p>
          <a:p xmlns:a="http://schemas.openxmlformats.org/drawingml/2006/main">
            <a:pPr algn="l">
              <a:defRPr sz="1200" b="0">
                <a:solidFill>
                  <a:srgbClr val="3F4A53"/>
                </a:solidFill>
              </a:defRPr>
            </a:pPr>
            <a:r>
              <a:rPr sz="1200" b="0">
                <a:solidFill>
                  <a:srgbClr val="3F4A53"/>
                </a:solidFill>
              </a:rPr>
              <a:t>不是已经生产完备的平台。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C04207-1999-471D-9CCE-5368C160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057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</a:defRPr>
            </a:pPr>
            <a:r>
              <a:rPr sz="1425" b="1">
                <a:solidFill>
                  <a:srgbClr val="18222D"/>
                </a:solidFill>
              </a:rPr>
              <a:t>最后一句：现在最重要的不是把所有功能一口气做完，而是先把这套“可复用、可控、可扩展”的底座验证扎实。</a:t>
            </a:r>
          </a:p>
        </p:txBody>
      </p:sp>
    </p:spTree>
    <p:extLst>
      <p:ext uri="{BB962C8B-B14F-4D97-AF65-F5344CB8AC3E}">
        <p14:creationId xmlns:p14="http://schemas.microsoft.com/office/powerpoint/2010/main" val="325157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2026-04-19T15:07:04.5730000Z</dcterms:created>
  <dcterms:modified xsi:type="dcterms:W3CDTF">2026-04-19T15:07:04.5730000Z</dcterms:modified>
</coreProperties>
</file>